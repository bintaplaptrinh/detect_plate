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-dh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3120" y="7772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Calibri"/>
              </a:defRPr>
            </a:pPr>
            <a:r>
              <a:t>BỘ NÔNG NGHIỆP VÀ MÔI TRƯỜNG — PHÂN HIỆU ĐẠI HỌC THỦY LỢI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BỘ MÔN CÔNG NGHỆ THÔNG TIN — HỌC PHẦN: NHẬN DẠNG MẪU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7286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BÁO CÁO ĐỒ ÁN MÔN HỌC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NHẬN DIỆN BIỂN SỐ XE VIỆT NAM BẰNG SVM VÀ PHƯƠNG PHÁP KẾT HỢP PCA, FLD, HMM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52120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GIẢNG VIÊN HƯỚNG DẪN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ThS. Nguyễn Thị Hồng Tú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Lớp học phần: S26-65TTNT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5242255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475488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SINH VIÊN THỰC HIỆN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Nguyễn Hữu Tuấn Phát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2. Trần Mạnh Hùng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3. Nguyễn Phước Toàn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Bối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&amp;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Dạng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305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lang="vi-VN" dirty="0"/>
              <a:t>   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quyết</a:t>
            </a:r>
            <a:endParaRPr dirty="0"/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Ứng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dụng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thực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tế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Kiểm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soát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bãi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đỗ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xe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minh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trạm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phí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dừng</a:t>
            </a:r>
            <a:r>
              <a:rPr sz="1300" dirty="0">
                <a:solidFill>
                  <a:srgbClr val="334155"/>
                </a:solidFill>
              </a:rPr>
              <a:t> (ETC), </a:t>
            </a:r>
            <a:r>
              <a:rPr sz="1300" dirty="0" err="1">
                <a:solidFill>
                  <a:srgbClr val="334155"/>
                </a:solidFill>
              </a:rPr>
              <a:t>phát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hiện</a:t>
            </a:r>
            <a:r>
              <a:rPr sz="1300" dirty="0">
                <a:solidFill>
                  <a:srgbClr val="334155"/>
                </a:solidFill>
              </a:rPr>
              <a:t> vi </a:t>
            </a:r>
            <a:r>
              <a:rPr sz="1300" dirty="0" err="1">
                <a:solidFill>
                  <a:srgbClr val="334155"/>
                </a:solidFill>
              </a:rPr>
              <a:t>phạm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giao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giám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sát</a:t>
            </a:r>
            <a:r>
              <a:rPr sz="1300" dirty="0">
                <a:solidFill>
                  <a:srgbClr val="334155"/>
                </a:solidFill>
              </a:rPr>
              <a:t> an </a:t>
            </a:r>
            <a:r>
              <a:rPr sz="1300" dirty="0" err="1">
                <a:solidFill>
                  <a:srgbClr val="334155"/>
                </a:solidFill>
              </a:rPr>
              <a:t>ninh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thị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Đặc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điểm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đầu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vào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Ảnh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tĩnh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chụp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tiện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giao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thực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tế</a:t>
            </a:r>
            <a:r>
              <a:rPr sz="1300" dirty="0">
                <a:solidFill>
                  <a:srgbClr val="334155"/>
                </a:solidFill>
              </a:rPr>
              <a:t>. </a:t>
            </a:r>
            <a:r>
              <a:rPr sz="1300" dirty="0" err="1">
                <a:solidFill>
                  <a:srgbClr val="334155"/>
                </a:solidFill>
              </a:rPr>
              <a:t>Vùng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số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chỉ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chiếm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một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phần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diện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tích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ảnh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chịu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ảnh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hưởng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của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góc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nghiêng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bụi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bẩn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chói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hoặc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bóng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râm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Yêu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cầu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đầu</a:t>
            </a:r>
            <a:r>
              <a:rPr sz="1300" b="1" dirty="0">
                <a:solidFill>
                  <a:srgbClr val="0F172A"/>
                </a:solidFill>
              </a:rPr>
              <a:t> ra: </a:t>
            </a:r>
            <a:r>
              <a:rPr sz="1300" dirty="0" err="1">
                <a:solidFill>
                  <a:srgbClr val="334155"/>
                </a:solidFill>
              </a:rPr>
              <a:t>Tọa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vùng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số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mức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giao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trên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hợp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IoU</a:t>
            </a:r>
            <a:r>
              <a:rPr sz="1300" dirty="0">
                <a:solidFill>
                  <a:srgbClr val="334155"/>
                </a:solidFill>
              </a:rPr>
              <a:t> &gt;= 0.5 so </a:t>
            </a:r>
            <a:r>
              <a:rPr sz="1300" dirty="0" err="1">
                <a:solidFill>
                  <a:srgbClr val="334155"/>
                </a:solidFill>
              </a:rPr>
              <a:t>với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nhãn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chuẩn</a:t>
            </a:r>
            <a:r>
              <a:rPr sz="1300" dirty="0">
                <a:solidFill>
                  <a:srgbClr val="334155"/>
                </a:solidFill>
              </a:rPr>
              <a:t>; </a:t>
            </a:r>
            <a:r>
              <a:rPr sz="1300" dirty="0" err="1">
                <a:solidFill>
                  <a:srgbClr val="334155"/>
                </a:solidFill>
              </a:rPr>
              <a:t>chuỗi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ký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viết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hoa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chuẩn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từ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trái</a:t>
            </a:r>
            <a:r>
              <a:rPr sz="1300" dirty="0">
                <a:solidFill>
                  <a:srgbClr val="334155"/>
                </a:solidFill>
              </a:rPr>
              <a:t> qua </a:t>
            </a:r>
            <a:r>
              <a:rPr sz="1300" dirty="0" err="1">
                <a:solidFill>
                  <a:srgbClr val="334155"/>
                </a:solidFill>
              </a:rPr>
              <a:t>phải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từ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trên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xuống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dưới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Ý </a:t>
            </a:r>
            <a:r>
              <a:rPr sz="1300" b="1" dirty="0" err="1">
                <a:solidFill>
                  <a:srgbClr val="0F172A"/>
                </a:solidFill>
              </a:rPr>
              <a:t>nghĩa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kết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quả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Hỗ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trợ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hóa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cứu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tiện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với</a:t>
            </a:r>
            <a:r>
              <a:rPr sz="1300" dirty="0">
                <a:solidFill>
                  <a:srgbClr val="334155"/>
                </a:solidFill>
              </a:rPr>
              <a:t> chi </a:t>
            </a:r>
            <a:r>
              <a:rPr sz="1300" dirty="0" err="1">
                <a:solidFill>
                  <a:srgbClr val="334155"/>
                </a:solidFill>
              </a:rPr>
              <a:t>phí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tính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toán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thấp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vận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ổn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định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trên</a:t>
            </a:r>
            <a:r>
              <a:rPr sz="1300" dirty="0">
                <a:solidFill>
                  <a:srgbClr val="334155"/>
                </a:solidFill>
              </a:rPr>
              <a:t> CPU </a:t>
            </a:r>
            <a:r>
              <a:rPr sz="1300" dirty="0" err="1">
                <a:solidFill>
                  <a:srgbClr val="334155"/>
                </a:solidFill>
              </a:rPr>
              <a:t>mà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đòi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hỏi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phần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cứng</a:t>
            </a:r>
            <a:r>
              <a:rPr sz="1300" dirty="0">
                <a:solidFill>
                  <a:srgbClr val="334155"/>
                </a:solidFill>
              </a:rPr>
              <a:t> GPU </a:t>
            </a:r>
            <a:r>
              <a:rPr sz="1300" dirty="0" err="1">
                <a:solidFill>
                  <a:srgbClr val="334155"/>
                </a:solidFill>
              </a:rPr>
              <a:t>đắt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đỏ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2573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môn</a:t>
            </a:r>
            <a:r>
              <a:rPr dirty="0"/>
              <a:t> </a:t>
            </a:r>
            <a:r>
              <a:rPr dirty="0" err="1"/>
              <a:t>học</a:t>
            </a:r>
            <a:endParaRPr dirty="0"/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Phương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pháp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trong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chương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trình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Vận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dụng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thuật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toán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nền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tảng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của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môn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Nhận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mẫu</a:t>
            </a:r>
            <a:r>
              <a:rPr sz="1300" dirty="0">
                <a:solidFill>
                  <a:srgbClr val="334155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Giảm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chiều</a:t>
            </a:r>
            <a:r>
              <a:rPr sz="1300" dirty="0">
                <a:solidFill>
                  <a:srgbClr val="334155"/>
                </a:solidFill>
              </a:rPr>
              <a:t> PCA, </a:t>
            </a:r>
            <a:r>
              <a:rPr sz="1300" dirty="0" err="1">
                <a:solidFill>
                  <a:srgbClr val="334155"/>
                </a:solidFill>
              </a:rPr>
              <a:t>biệt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số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tuyến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tính</a:t>
            </a:r>
            <a:r>
              <a:rPr sz="1300" dirty="0">
                <a:solidFill>
                  <a:srgbClr val="334155"/>
                </a:solidFill>
              </a:rPr>
              <a:t> Fisher (FLD), </a:t>
            </a:r>
            <a:r>
              <a:rPr sz="1300" dirty="0" err="1">
                <a:solidFill>
                  <a:srgbClr val="334155"/>
                </a:solidFill>
              </a:rPr>
              <a:t>mô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hình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xạ</a:t>
            </a:r>
            <a:r>
              <a:rPr sz="1300" dirty="0">
                <a:solidFill>
                  <a:srgbClr val="334155"/>
                </a:solidFill>
              </a:rPr>
              <a:t> Gaussian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hình</a:t>
            </a:r>
            <a:r>
              <a:rPr sz="1300" dirty="0">
                <a:solidFill>
                  <a:srgbClr val="334155"/>
                </a:solidFill>
              </a:rPr>
              <a:t> Markov </a:t>
            </a:r>
            <a:r>
              <a:rPr sz="1300" dirty="0" err="1">
                <a:solidFill>
                  <a:srgbClr val="334155"/>
                </a:solidFill>
              </a:rPr>
              <a:t>ẩn</a:t>
            </a:r>
            <a:r>
              <a:rPr sz="1300" dirty="0">
                <a:solidFill>
                  <a:srgbClr val="334155"/>
                </a:solidFill>
              </a:rPr>
              <a:t> (HMM) </a:t>
            </a:r>
            <a:r>
              <a:rPr sz="1300" dirty="0" err="1">
                <a:solidFill>
                  <a:srgbClr val="334155"/>
                </a:solidFill>
              </a:rPr>
              <a:t>với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giải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thuật</a:t>
            </a:r>
            <a:r>
              <a:rPr sz="1300" dirty="0">
                <a:solidFill>
                  <a:srgbClr val="334155"/>
                </a:solidFill>
              </a:rPr>
              <a:t> Viterbi.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Phương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pháp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cơ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sở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ngoài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chương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trình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Sử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dụng</a:t>
            </a:r>
            <a:r>
              <a:rPr sz="1300" dirty="0">
                <a:solidFill>
                  <a:srgbClr val="334155"/>
                </a:solidFill>
              </a:rPr>
              <a:t> Support Vector Machine (SVM) </a:t>
            </a:r>
            <a:r>
              <a:rPr sz="1300" dirty="0" err="1">
                <a:solidFill>
                  <a:srgbClr val="334155"/>
                </a:solidFill>
              </a:rPr>
              <a:t>làm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hình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đối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chiếu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chuẩn</a:t>
            </a:r>
            <a:r>
              <a:rPr sz="1300" dirty="0">
                <a:solidFill>
                  <a:srgbClr val="334155"/>
                </a:solidFill>
              </a:rPr>
              <a:t> (Baseline) </a:t>
            </a:r>
            <a:r>
              <a:rPr sz="1300" dirty="0" err="1">
                <a:solidFill>
                  <a:srgbClr val="334155"/>
                </a:solidFill>
              </a:rPr>
              <a:t>để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đánh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giá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khách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quan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Thiết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kế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đối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sánh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có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kiểm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soát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>
                <a:solidFill>
                  <a:srgbClr val="334155"/>
                </a:solidFill>
              </a:rPr>
              <a:t>Hai </a:t>
            </a:r>
            <a:r>
              <a:rPr sz="1300" dirty="0" err="1">
                <a:solidFill>
                  <a:srgbClr val="334155"/>
                </a:solidFill>
              </a:rPr>
              <a:t>phương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dùng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hoàn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toàn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khâu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hiện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vùng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phân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đoạn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ký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đặc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trưng</a:t>
            </a:r>
            <a:r>
              <a:rPr sz="1300" dirty="0">
                <a:solidFill>
                  <a:srgbClr val="334155"/>
                </a:solidFill>
              </a:rPr>
              <a:t> HOG. </a:t>
            </a:r>
            <a:r>
              <a:rPr sz="1300" dirty="0" err="1">
                <a:solidFill>
                  <a:srgbClr val="334155"/>
                </a:solidFill>
              </a:rPr>
              <a:t>Điều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này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đảm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bảo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biệt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kết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quả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chỉ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đến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từ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hình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loại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giải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mã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Nguyên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tắc</a:t>
            </a:r>
            <a:r>
              <a:rPr sz="1300" b="1" dirty="0">
                <a:solidFill>
                  <a:srgbClr val="0F172A"/>
                </a:solidFill>
              </a:rPr>
              <a:t> khoa </a:t>
            </a:r>
            <a:r>
              <a:rPr sz="1300" b="1" dirty="0" err="1">
                <a:solidFill>
                  <a:srgbClr val="0F172A"/>
                </a:solidFill>
              </a:rPr>
              <a:t>học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Đánh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giá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cả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mức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ký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lẻ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lẫn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chính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cả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chuỗi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số</a:t>
            </a:r>
            <a:r>
              <a:rPr sz="1300" dirty="0">
                <a:solidFill>
                  <a:srgbClr val="334155"/>
                </a:solidFill>
              </a:rPr>
              <a:t>; </a:t>
            </a:r>
            <a:r>
              <a:rPr sz="1300" dirty="0" err="1">
                <a:solidFill>
                  <a:srgbClr val="334155"/>
                </a:solidFill>
              </a:rPr>
              <a:t>không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giả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định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rằng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pháp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kết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hợp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phức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tạp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phải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kết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quả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vượt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trội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VNLP &amp; Ba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Cục</a:t>
            </a:r>
            <a:r>
              <a:rPr dirty="0"/>
              <a:t> </a:t>
            </a:r>
            <a:r>
              <a:rPr dirty="0" err="1"/>
              <a:t>Biển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48640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12064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VNLP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bởi</a:t>
            </a:r>
            <a:r>
              <a:rPr dirty="0"/>
              <a:t> FICT Labs (Trinh et al., 2022).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37.297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xe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cục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3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cục</a:t>
            </a:r>
            <a:r>
              <a:rPr dirty="0"/>
              <a:t>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92608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Bố cục biển số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Số ảnh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Tỷ lệ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Một hàng (Ô tô dài)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19.086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51,17%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Hai hàng ô tô (Vuông)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12.618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33,83%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Hai hàng xe máy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15,00%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• Tổng cộng nguồn: 37.297 ảnh phương tiện.</a:t>
            </a:r>
            <a:br/>
            <a:r>
              <a:t>• Biểu diễn tọa độ: Chuyển đổi chuẩn hóa từ (x1, y1, x2, y2) sang (x, y, w, h) dựa trên kiểm tra thực tế điểm ảnh tránh nhầm lẫn chiều rộng/chiều cao.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08760"/>
            <a:ext cx="496793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572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Mẫu ảnh thực tế trích xuất từ dataset VNLP</a:t>
            </a:r>
          </a:p>
        </p:txBody>
      </p:sp>
      <p:pic>
        <p:nvPicPr>
          <p:cNvPr id="10" name="Picture 9" descr="sample_one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86000"/>
            <a:ext cx="457200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1. Mẫu biển một hàng ô tô (36A-385.87)</a:t>
            </a:r>
          </a:p>
        </p:txBody>
      </p:sp>
      <p:pic>
        <p:nvPicPr>
          <p:cNvPr id="12" name="Picture 11" descr="sample_two_rows_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749039"/>
            <a:ext cx="210312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539496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2. Hai hàng ô tô</a:t>
            </a:r>
            <a:br/>
            <a:r>
              <a:t>(36A-385.69)</a:t>
            </a:r>
          </a:p>
        </p:txBody>
      </p:sp>
      <p:pic>
        <p:nvPicPr>
          <p:cNvPr id="14" name="Picture 13" descr="sample_two_rows_m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749039"/>
            <a:ext cx="210312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0" y="539496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3. Hai hàng xe máy</a:t>
            </a:r>
            <a:br/>
            <a:r>
              <a:t>(29-F1 622.02)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35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&amp;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02920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663440" cy="2687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4.812 </a:t>
            </a:r>
            <a:r>
              <a:rPr dirty="0" err="1"/>
              <a:t>mẫu</a:t>
            </a:r>
            <a:r>
              <a:rPr dirty="0"/>
              <a:t> train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Không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gian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nhãn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>
                <a:solidFill>
                  <a:srgbClr val="334155"/>
                </a:solidFill>
              </a:rPr>
              <a:t>35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gồm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'0' </a:t>
            </a:r>
            <a:r>
              <a:rPr sz="1200" dirty="0" err="1">
                <a:solidFill>
                  <a:srgbClr val="334155"/>
                </a:solidFill>
              </a:rPr>
              <a:t>đến</a:t>
            </a:r>
            <a:r>
              <a:rPr sz="1200" dirty="0">
                <a:solidFill>
                  <a:srgbClr val="334155"/>
                </a:solidFill>
              </a:rPr>
              <a:t> '9',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cái</a:t>
            </a:r>
            <a:r>
              <a:rPr sz="1200" dirty="0">
                <a:solidFill>
                  <a:srgbClr val="334155"/>
                </a:solidFill>
              </a:rPr>
              <a:t> 'A' </a:t>
            </a:r>
            <a:r>
              <a:rPr sz="1200" dirty="0" err="1">
                <a:solidFill>
                  <a:srgbClr val="334155"/>
                </a:solidFill>
              </a:rPr>
              <a:t>đến</a:t>
            </a:r>
            <a:r>
              <a:rPr sz="1200" dirty="0">
                <a:solidFill>
                  <a:srgbClr val="334155"/>
                </a:solidFill>
              </a:rPr>
              <a:t> 'N' </a:t>
            </a:r>
            <a:r>
              <a:rPr sz="1200" dirty="0" err="1">
                <a:solidFill>
                  <a:srgbClr val="334155"/>
                </a:solidFill>
              </a:rPr>
              <a:t>và</a:t>
            </a:r>
            <a:r>
              <a:rPr sz="1200" dirty="0">
                <a:solidFill>
                  <a:srgbClr val="334155"/>
                </a:solidFill>
              </a:rPr>
              <a:t> 'P' </a:t>
            </a:r>
            <a:r>
              <a:rPr sz="1200" dirty="0" err="1">
                <a:solidFill>
                  <a:srgbClr val="334155"/>
                </a:solidFill>
              </a:rPr>
              <a:t>đến</a:t>
            </a:r>
            <a:r>
              <a:rPr sz="1200" dirty="0">
                <a:solidFill>
                  <a:srgbClr val="334155"/>
                </a:solidFill>
              </a:rPr>
              <a:t> 'Z' (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có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 'O' </a:t>
            </a:r>
            <a:r>
              <a:rPr sz="1200" dirty="0" err="1">
                <a:solidFill>
                  <a:srgbClr val="334155"/>
                </a:solidFill>
              </a:rPr>
              <a:t>để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tránh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nhầm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0).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Mất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cân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bằng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nghiêm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trọng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Tập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chiếm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ưu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thế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áp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đảo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với</a:t>
            </a:r>
            <a:r>
              <a:rPr sz="1200" dirty="0">
                <a:solidFill>
                  <a:srgbClr val="334155"/>
                </a:solidFill>
              </a:rPr>
              <a:t> 2.977 </a:t>
            </a:r>
            <a:r>
              <a:rPr sz="1200" dirty="0" err="1">
                <a:solidFill>
                  <a:srgbClr val="334155"/>
                </a:solidFill>
              </a:rPr>
              <a:t>mẫu</a:t>
            </a:r>
            <a:r>
              <a:rPr sz="1200" dirty="0">
                <a:solidFill>
                  <a:srgbClr val="334155"/>
                </a:solidFill>
              </a:rPr>
              <a:t> (61,87%).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có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mẫu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cao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nhất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là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'3' </a:t>
            </a:r>
            <a:r>
              <a:rPr sz="1200" dirty="0" err="1">
                <a:solidFill>
                  <a:srgbClr val="334155"/>
                </a:solidFill>
              </a:rPr>
              <a:t>với</a:t>
            </a:r>
            <a:r>
              <a:rPr sz="1200" dirty="0">
                <a:solidFill>
                  <a:srgbClr val="334155"/>
                </a:solidFill>
              </a:rPr>
              <a:t> 488 </a:t>
            </a:r>
            <a:r>
              <a:rPr sz="1200" dirty="0" err="1">
                <a:solidFill>
                  <a:srgbClr val="334155"/>
                </a:solidFill>
              </a:rPr>
              <a:t>mẫu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Các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lớp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chữ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cái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hiếm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Các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'I', 'J', 'Q', 'W' </a:t>
            </a:r>
            <a:r>
              <a:rPr sz="1200" dirty="0" err="1">
                <a:solidFill>
                  <a:srgbClr val="334155"/>
                </a:solidFill>
              </a:rPr>
              <a:t>chỉ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có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đúng</a:t>
            </a:r>
            <a:r>
              <a:rPr sz="1200" dirty="0">
                <a:solidFill>
                  <a:srgbClr val="334155"/>
                </a:solidFill>
              </a:rPr>
              <a:t> 60 </a:t>
            </a:r>
            <a:r>
              <a:rPr sz="1200" dirty="0" err="1">
                <a:solidFill>
                  <a:srgbClr val="334155"/>
                </a:solidFill>
              </a:rPr>
              <a:t>mẫu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từ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nguồn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liệu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nội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bổ</a:t>
            </a:r>
            <a:r>
              <a:rPr sz="1200" dirty="0">
                <a:solidFill>
                  <a:srgbClr val="334155"/>
                </a:solidFill>
              </a:rPr>
              <a:t> sung (</a:t>
            </a:r>
            <a:r>
              <a:rPr sz="1200" dirty="0" err="1">
                <a:solidFill>
                  <a:srgbClr val="334155"/>
                </a:solidFill>
              </a:rPr>
              <a:t>trong</a:t>
            </a:r>
            <a:r>
              <a:rPr sz="1200" dirty="0">
                <a:solidFill>
                  <a:srgbClr val="334155"/>
                </a:solidFill>
              </a:rPr>
              <a:t> VNLP </a:t>
            </a:r>
            <a:r>
              <a:rPr sz="1200" dirty="0" err="1">
                <a:solidFill>
                  <a:srgbClr val="334155"/>
                </a:solidFill>
              </a:rPr>
              <a:t>hầu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như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xuất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hiện</a:t>
            </a:r>
            <a:r>
              <a:rPr sz="1200" dirty="0">
                <a:solidFill>
                  <a:srgbClr val="334155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Tỷ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số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chênh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lệch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Tỷ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giữa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nhiều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nhất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và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ít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nhất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bằng</a:t>
            </a:r>
            <a:r>
              <a:rPr sz="1200" dirty="0">
                <a:solidFill>
                  <a:srgbClr val="334155"/>
                </a:solidFill>
              </a:rPr>
              <a:t> 488 / 60 ≈ 8,13 </a:t>
            </a:r>
            <a:r>
              <a:rPr sz="1200" dirty="0" err="1">
                <a:solidFill>
                  <a:srgbClr val="334155"/>
                </a:solidFill>
              </a:rPr>
              <a:t>lần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Chiến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lược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xử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lý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Sử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dụng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đo</a:t>
            </a:r>
            <a:r>
              <a:rPr sz="1200" dirty="0">
                <a:solidFill>
                  <a:srgbClr val="334155"/>
                </a:solidFill>
              </a:rPr>
              <a:t> Macro F1 </a:t>
            </a:r>
            <a:r>
              <a:rPr sz="1200" dirty="0" err="1">
                <a:solidFill>
                  <a:srgbClr val="334155"/>
                </a:solidFill>
              </a:rPr>
              <a:t>và</a:t>
            </a:r>
            <a:r>
              <a:rPr sz="1200" dirty="0">
                <a:solidFill>
                  <a:srgbClr val="334155"/>
                </a:solidFill>
              </a:rPr>
              <a:t> ma </a:t>
            </a:r>
            <a:r>
              <a:rPr sz="1200" dirty="0" err="1">
                <a:solidFill>
                  <a:srgbClr val="334155"/>
                </a:solidFill>
              </a:rPr>
              <a:t>trận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nhầm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lẫn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để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phát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hiện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sai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hiếm</a:t>
            </a:r>
            <a:r>
              <a:rPr sz="1200" dirty="0">
                <a:solidFill>
                  <a:srgbClr val="334155"/>
                </a:solidFill>
              </a:rPr>
              <a:t>; SVM </a:t>
            </a:r>
            <a:r>
              <a:rPr sz="1200" dirty="0" err="1">
                <a:solidFill>
                  <a:srgbClr val="334155"/>
                </a:solidFill>
              </a:rPr>
              <a:t>áp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dụng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trọng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nghịch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đảo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class_weight</a:t>
            </a:r>
            <a:r>
              <a:rPr sz="1200" dirty="0">
                <a:solidFill>
                  <a:srgbClr val="334155"/>
                </a:solidFill>
              </a:rPr>
              <a:t>='balanced'.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08760"/>
            <a:ext cx="542513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35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endParaRPr dirty="0"/>
          </a:p>
        </p:txBody>
      </p:sp>
      <p:pic>
        <p:nvPicPr>
          <p:cNvPr id="8" name="Picture 7" descr="phan_bo_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502920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89204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Cột màu xanh: Biểu diễn các lớp chữ số (chiếm tỷ trọng cao).</a:t>
            </a:r>
            <a:br/>
            <a:r>
              <a:t>• Cột màu nâu: Biểu diễn các lớp chữ cái sê-ri (tỷ lệ ít hơn đáng kể).</a:t>
            </a:r>
            <a:br/>
            <a:r>
              <a:t>Nguồn: Báo cáo môn học (Hình 3.1, trang 11).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&amp;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Chống</a:t>
            </a:r>
            <a:r>
              <a:rPr dirty="0"/>
              <a:t> </a:t>
            </a:r>
            <a:r>
              <a:rPr dirty="0" err="1"/>
              <a:t>Rò</a:t>
            </a:r>
            <a:r>
              <a:rPr dirty="0"/>
              <a:t> </a:t>
            </a:r>
            <a:r>
              <a:rPr dirty="0" err="1"/>
              <a:t>Rỉ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5534"/>
            <a:ext cx="10728655" cy="498526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chia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độc</a:t>
            </a:r>
            <a:r>
              <a:rPr dirty="0"/>
              <a:t> </a:t>
            </a:r>
            <a:r>
              <a:rPr dirty="0" err="1"/>
              <a:t>lập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rPr dirty="0"/>
              <a:t>1.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vẹn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trích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hàm</a:t>
            </a:r>
            <a:r>
              <a:rPr dirty="0"/>
              <a:t> </a:t>
            </a:r>
            <a:r>
              <a:rPr dirty="0" err="1"/>
              <a:t>băm</a:t>
            </a:r>
            <a:r>
              <a:rPr dirty="0"/>
              <a:t> SHA-256;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lặp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;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tọa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bounding box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biên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2.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chia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biển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(Plate Identity Split): </a:t>
            </a:r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chụp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tiện</a:t>
            </a:r>
            <a:r>
              <a:rPr dirty="0"/>
              <a:t> (</a:t>
            </a:r>
            <a:r>
              <a:rPr dirty="0" err="1"/>
              <a:t>dù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góc</a:t>
            </a:r>
            <a:r>
              <a:rPr dirty="0"/>
              <a:t> </a:t>
            </a:r>
            <a:r>
              <a:rPr dirty="0" err="1"/>
              <a:t>chụp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)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thoa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Train, Validation </a:t>
            </a:r>
            <a:r>
              <a:rPr dirty="0" err="1"/>
              <a:t>và</a:t>
            </a:r>
            <a:r>
              <a:rPr dirty="0"/>
              <a:t> Test.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3291840"/>
          <a:ext cx="1018001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Tập dữ liệu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Số lượng ảnh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Vai trò thực nghiệm trong nghiên cứu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Huấn luyện (Train)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951 ảnh cảnh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Học bộ kiểm chứng vùng; trích xuất 2.712 ký tự VNLP; ước lượng ma trận chuyển trạng thái bigram HMM.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Kiểm định (Validation)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 ảnh cảnh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Lựa chọn cấu hình bộ lọc ký tự trong quá trình phát triển; làm nóng (warm-up) hệ thống trước khi đo thời gian.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Kiểm thử C (Test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180 ảnh cảnh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Tập kiểm thử ghép cặp đánh giá đối sánh cuối cùng; phân tầng cân bằng gồm 60 ảnh cho mỗi loại bố cục.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5257800"/>
            <a:ext cx="101800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3 </a:t>
            </a:r>
            <a:r>
              <a:rPr dirty="0" err="1"/>
              <a:t>tập</a:t>
            </a:r>
            <a:r>
              <a:rPr dirty="0"/>
              <a:t> = 0.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3 </a:t>
            </a:r>
            <a:r>
              <a:rPr dirty="0" err="1"/>
              <a:t>tập</a:t>
            </a:r>
            <a:r>
              <a:rPr dirty="0"/>
              <a:t> =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Biển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&amp;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Đoạn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CCA+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21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nâng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ảnh</a:t>
            </a:r>
            <a:endParaRPr dirty="0"/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Cân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bằng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sáng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cục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bộ</a:t>
            </a:r>
            <a:r>
              <a:rPr sz="1300" b="1" dirty="0">
                <a:solidFill>
                  <a:srgbClr val="0F172A"/>
                </a:solidFill>
              </a:rPr>
              <a:t> CLAHE: </a:t>
            </a:r>
            <a:r>
              <a:rPr sz="1300" dirty="0" err="1">
                <a:solidFill>
                  <a:srgbClr val="334155"/>
                </a:solidFill>
              </a:rPr>
              <a:t>Áp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dụng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thuật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toán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bằng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đồ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mức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xám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thích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ứng</a:t>
            </a:r>
            <a:r>
              <a:rPr sz="1300" dirty="0">
                <a:solidFill>
                  <a:srgbClr val="334155"/>
                </a:solidFill>
              </a:rPr>
              <a:t> (</a:t>
            </a:r>
            <a:r>
              <a:rPr sz="1300" dirty="0" err="1">
                <a:solidFill>
                  <a:srgbClr val="334155"/>
                </a:solidFill>
              </a:rPr>
              <a:t>clipLimit</a:t>
            </a:r>
            <a:r>
              <a:rPr sz="1300" dirty="0">
                <a:solidFill>
                  <a:srgbClr val="334155"/>
                </a:solidFill>
              </a:rPr>
              <a:t>=2.0, </a:t>
            </a:r>
            <a:r>
              <a:rPr sz="1300" dirty="0" err="1">
                <a:solidFill>
                  <a:srgbClr val="334155"/>
                </a:solidFill>
              </a:rPr>
              <a:t>tileGridSize</a:t>
            </a:r>
            <a:r>
              <a:rPr sz="1300" dirty="0">
                <a:solidFill>
                  <a:srgbClr val="334155"/>
                </a:solidFill>
              </a:rPr>
              <a:t>=8x8) </a:t>
            </a:r>
            <a:r>
              <a:rPr sz="1300" dirty="0" err="1">
                <a:solidFill>
                  <a:srgbClr val="334155"/>
                </a:solidFill>
              </a:rPr>
              <a:t>nhằm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khắc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phục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chênh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lệch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rọi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giữa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vùng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trên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số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Lọc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hình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thái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học</a:t>
            </a:r>
            <a:r>
              <a:rPr sz="1300" b="1" dirty="0">
                <a:solidFill>
                  <a:srgbClr val="0F172A"/>
                </a:solidFill>
              </a:rPr>
              <a:t> Top-Hat / Black-Hat: </a:t>
            </a:r>
            <a:r>
              <a:rPr sz="1300" dirty="0" err="1">
                <a:solidFill>
                  <a:srgbClr val="334155"/>
                </a:solidFill>
              </a:rPr>
              <a:t>Làm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nổi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bật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nét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chữ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phản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cao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triệt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tiêu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nhiễu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nền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đốm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bẩn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bóng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phản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quang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mờ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Nắn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thẳng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góc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nghiêng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phối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cảnh</a:t>
            </a:r>
            <a:r>
              <a:rPr sz="1300" b="1" dirty="0">
                <a:solidFill>
                  <a:srgbClr val="0F172A"/>
                </a:solidFill>
              </a:rPr>
              <a:t> (Rectify): </a:t>
            </a:r>
            <a:r>
              <a:rPr sz="1300" dirty="0" err="1">
                <a:solidFill>
                  <a:srgbClr val="334155"/>
                </a:solidFill>
              </a:rPr>
              <a:t>Xác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định</a:t>
            </a:r>
            <a:r>
              <a:rPr sz="1300" dirty="0">
                <a:solidFill>
                  <a:srgbClr val="334155"/>
                </a:solidFill>
              </a:rPr>
              <a:t> 4 </a:t>
            </a:r>
            <a:r>
              <a:rPr sz="1300" dirty="0" err="1">
                <a:solidFill>
                  <a:srgbClr val="334155"/>
                </a:solidFill>
              </a:rPr>
              <a:t>đỉnh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góc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của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vùng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biển</a:t>
            </a:r>
            <a:r>
              <a:rPr sz="1300" dirty="0">
                <a:solidFill>
                  <a:srgbClr val="334155"/>
                </a:solidFill>
              </a:rPr>
              <a:t> qua </a:t>
            </a:r>
            <a:r>
              <a:rPr sz="1300" dirty="0" err="1">
                <a:solidFill>
                  <a:srgbClr val="334155"/>
                </a:solidFill>
              </a:rPr>
              <a:t>minAreaRect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áp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dụng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phép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biến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đổi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phối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cảnh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warpPerspective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đưa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biển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về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chữ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nhật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phẳng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nằm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ngang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chuẩn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2554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đoạn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lai</a:t>
            </a:r>
            <a:r>
              <a:rPr dirty="0"/>
              <a:t> CCA+ &amp;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lượng</a:t>
            </a:r>
            <a:endParaRPr dirty="0"/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Tách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hàng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độc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lập</a:t>
            </a:r>
            <a:r>
              <a:rPr sz="1300" b="1" dirty="0">
                <a:solidFill>
                  <a:srgbClr val="0F172A"/>
                </a:solidFill>
              </a:rPr>
              <a:t> (_</a:t>
            </a:r>
            <a:r>
              <a:rPr sz="1300" b="1" dirty="0" err="1">
                <a:solidFill>
                  <a:srgbClr val="0F172A"/>
                </a:solidFill>
              </a:rPr>
              <a:t>row_order</a:t>
            </a:r>
            <a:r>
              <a:rPr sz="1300" b="1" dirty="0">
                <a:solidFill>
                  <a:srgbClr val="0F172A"/>
                </a:solidFill>
              </a:rPr>
              <a:t>): </a:t>
            </a:r>
            <a:r>
              <a:rPr sz="1300" dirty="0" err="1">
                <a:solidFill>
                  <a:srgbClr val="334155"/>
                </a:solidFill>
              </a:rPr>
              <a:t>Chiếu</a:t>
            </a:r>
            <a:r>
              <a:rPr sz="1300" dirty="0">
                <a:solidFill>
                  <a:srgbClr val="334155"/>
                </a:solidFill>
              </a:rPr>
              <a:t> histogram </a:t>
            </a:r>
            <a:r>
              <a:rPr sz="1300" dirty="0" err="1">
                <a:solidFill>
                  <a:srgbClr val="334155"/>
                </a:solidFill>
              </a:rPr>
              <a:t>theo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ngang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tìm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khoảng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tâm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dọc</a:t>
            </a:r>
            <a:r>
              <a:rPr sz="1300" dirty="0">
                <a:solidFill>
                  <a:srgbClr val="334155"/>
                </a:solidFill>
              </a:rPr>
              <a:t> (center-gap);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nhận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diện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nhãn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chính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trên</a:t>
            </a:r>
            <a:r>
              <a:rPr sz="1300" dirty="0">
                <a:solidFill>
                  <a:srgbClr val="334155"/>
                </a:solidFill>
              </a:rPr>
              <a:t> (row 0)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dưới</a:t>
            </a:r>
            <a:r>
              <a:rPr sz="1300" dirty="0">
                <a:solidFill>
                  <a:srgbClr val="334155"/>
                </a:solidFill>
              </a:rPr>
              <a:t> (row 1).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Phân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đoạn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lai</a:t>
            </a:r>
            <a:r>
              <a:rPr sz="1300" b="1" dirty="0">
                <a:solidFill>
                  <a:srgbClr val="0F172A"/>
                </a:solidFill>
              </a:rPr>
              <a:t> CCA+: </a:t>
            </a:r>
            <a:r>
              <a:rPr sz="1300" dirty="0" err="1">
                <a:solidFill>
                  <a:srgbClr val="334155"/>
                </a:solidFill>
              </a:rPr>
              <a:t>Kết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hợp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tích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thành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phần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liên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với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phép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chiếu</a:t>
            </a:r>
            <a:r>
              <a:rPr sz="1300" dirty="0">
                <a:solidFill>
                  <a:srgbClr val="334155"/>
                </a:solidFill>
              </a:rPr>
              <a:t> histogram </a:t>
            </a:r>
            <a:r>
              <a:rPr sz="1300" dirty="0" err="1">
                <a:solidFill>
                  <a:srgbClr val="334155"/>
                </a:solidFill>
              </a:rPr>
              <a:t>đứng</a:t>
            </a:r>
            <a:r>
              <a:rPr sz="1300" dirty="0">
                <a:solidFill>
                  <a:srgbClr val="334155"/>
                </a:solidFill>
              </a:rPr>
              <a:t> (_</a:t>
            </a:r>
            <a:r>
              <a:rPr sz="1300" dirty="0" err="1">
                <a:solidFill>
                  <a:srgbClr val="334155"/>
                </a:solidFill>
              </a:rPr>
              <a:t>split_wide</a:t>
            </a:r>
            <a:r>
              <a:rPr sz="1300" dirty="0">
                <a:solidFill>
                  <a:srgbClr val="334155"/>
                </a:solidFill>
              </a:rPr>
              <a:t>) </a:t>
            </a:r>
            <a:r>
              <a:rPr sz="1300" dirty="0" err="1">
                <a:solidFill>
                  <a:srgbClr val="334155"/>
                </a:solidFill>
              </a:rPr>
              <a:t>tại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thung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lũng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nét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để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cắt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tách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cặp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ký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bị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dính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liền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nét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Bộ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lọc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chất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lượng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ký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tự</a:t>
            </a:r>
            <a:r>
              <a:rPr sz="1300" b="1" dirty="0">
                <a:solidFill>
                  <a:srgbClr val="0F172A"/>
                </a:solidFill>
              </a:rPr>
              <a:t> (Glyph Quality Filter): </a:t>
            </a:r>
            <a:r>
              <a:rPr sz="1300" dirty="0" err="1">
                <a:solidFill>
                  <a:srgbClr val="334155"/>
                </a:solidFill>
              </a:rPr>
              <a:t>Loại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bỏ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đinh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ốc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viền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mép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bám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dính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dựa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chiều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cao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đối</a:t>
            </a:r>
            <a:r>
              <a:rPr sz="1300" dirty="0">
                <a:solidFill>
                  <a:srgbClr val="334155"/>
                </a:solidFill>
              </a:rPr>
              <a:t> (&gt; 0.50 so </a:t>
            </a:r>
            <a:r>
              <a:rPr sz="1300" dirty="0" err="1">
                <a:solidFill>
                  <a:srgbClr val="334155"/>
                </a:solidFill>
              </a:rPr>
              <a:t>với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chiều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cao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trung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vị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của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hàng</a:t>
            </a:r>
            <a:r>
              <a:rPr sz="1300" dirty="0">
                <a:solidFill>
                  <a:srgbClr val="334155"/>
                </a:solidFill>
              </a:rPr>
              <a:t>)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lệch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hàng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không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loại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nhầm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chữ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số</a:t>
            </a:r>
            <a:r>
              <a:rPr sz="1300" dirty="0">
                <a:solidFill>
                  <a:srgbClr val="334155"/>
                </a:solidFill>
              </a:rPr>
              <a:t> '1' hay </a:t>
            </a:r>
            <a:r>
              <a:rPr sz="1300" dirty="0" err="1">
                <a:solidFill>
                  <a:srgbClr val="334155"/>
                </a:solidFill>
              </a:rPr>
              <a:t>chữ</a:t>
            </a:r>
            <a:r>
              <a:rPr sz="1300" dirty="0">
                <a:solidFill>
                  <a:srgbClr val="334155"/>
                </a:solidFill>
              </a:rPr>
              <a:t> 'I'.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&amp;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HOG 540 </a:t>
            </a:r>
            <a:r>
              <a:rPr dirty="0" err="1"/>
              <a:t>Chiều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3035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2162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(Normalize Glyph)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Thống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nhất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cực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tính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Nhị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phân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hóa</a:t>
            </a:r>
            <a:r>
              <a:rPr sz="1200" dirty="0">
                <a:solidFill>
                  <a:srgbClr val="334155"/>
                </a:solidFill>
              </a:rPr>
              <a:t> Otsu;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kiểm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viền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để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luôn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đưa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về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dạng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nét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màu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trắng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nền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màu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đen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Khử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nghiêng</a:t>
            </a:r>
            <a:r>
              <a:rPr sz="1200" b="1" dirty="0">
                <a:solidFill>
                  <a:srgbClr val="0F172A"/>
                </a:solidFill>
              </a:rPr>
              <a:t> (</a:t>
            </a:r>
            <a:r>
              <a:rPr sz="1200" b="1" dirty="0" err="1">
                <a:solidFill>
                  <a:srgbClr val="0F172A"/>
                </a:solidFill>
              </a:rPr>
              <a:t>Deskewing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theo</a:t>
            </a:r>
            <a:r>
              <a:rPr sz="1200" b="1" dirty="0">
                <a:solidFill>
                  <a:srgbClr val="0F172A"/>
                </a:solidFill>
              </a:rPr>
              <a:t> moment): </a:t>
            </a:r>
            <a:r>
              <a:rPr sz="1200" dirty="0" err="1">
                <a:solidFill>
                  <a:srgbClr val="334155"/>
                </a:solidFill>
              </a:rPr>
              <a:t>Tính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tỷ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moment </a:t>
            </a:r>
            <a:r>
              <a:rPr sz="1200" dirty="0" err="1">
                <a:solidFill>
                  <a:srgbClr val="334155"/>
                </a:solidFill>
              </a:rPr>
              <a:t>bậc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hai</a:t>
            </a:r>
            <a:r>
              <a:rPr sz="1200" dirty="0">
                <a:solidFill>
                  <a:srgbClr val="334155"/>
                </a:solidFill>
              </a:rPr>
              <a:t> mu11 / mu02, </a:t>
            </a:r>
            <a:r>
              <a:rPr sz="1200" dirty="0" err="1">
                <a:solidFill>
                  <a:srgbClr val="334155"/>
                </a:solidFill>
              </a:rPr>
              <a:t>áp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dụng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phép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biến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đổi</a:t>
            </a:r>
            <a:r>
              <a:rPr sz="1200" dirty="0">
                <a:solidFill>
                  <a:srgbClr val="334155"/>
                </a:solidFill>
              </a:rPr>
              <a:t> Affine </a:t>
            </a:r>
            <a:r>
              <a:rPr sz="1200" dirty="0" err="1">
                <a:solidFill>
                  <a:srgbClr val="334155"/>
                </a:solidFill>
              </a:rPr>
              <a:t>đưa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trục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đối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xứng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của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nét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về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phương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thẳng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đứng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Quy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chuẩn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kích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thước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cố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định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>
                <a:solidFill>
                  <a:srgbClr val="334155"/>
                </a:solidFill>
              </a:rPr>
              <a:t>Co </a:t>
            </a:r>
            <a:r>
              <a:rPr sz="1200" dirty="0" err="1">
                <a:solidFill>
                  <a:srgbClr val="334155"/>
                </a:solidFill>
              </a:rPr>
              <a:t>giãn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vùng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nét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về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kích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thước</a:t>
            </a:r>
            <a:r>
              <a:rPr sz="1200" dirty="0">
                <a:solidFill>
                  <a:srgbClr val="334155"/>
                </a:solidFill>
              </a:rPr>
              <a:t> 24 x 40 pixel </a:t>
            </a:r>
            <a:r>
              <a:rPr sz="1200" dirty="0" err="1">
                <a:solidFill>
                  <a:srgbClr val="334155"/>
                </a:solidFill>
              </a:rPr>
              <a:t>và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đặt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căn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giữa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vào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khung</a:t>
            </a:r>
            <a:r>
              <a:rPr sz="1200" dirty="0">
                <a:solidFill>
                  <a:srgbClr val="334155"/>
                </a:solidFill>
              </a:rPr>
              <a:t> canvas </a:t>
            </a:r>
            <a:r>
              <a:rPr sz="1200" dirty="0" err="1">
                <a:solidFill>
                  <a:srgbClr val="334155"/>
                </a:solidFill>
              </a:rPr>
              <a:t>chuẩn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kích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thước</a:t>
            </a:r>
            <a:r>
              <a:rPr sz="1200" dirty="0">
                <a:solidFill>
                  <a:srgbClr val="334155"/>
                </a:solidFill>
              </a:rPr>
              <a:t> 32 x 48 pixel.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Trích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xuất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đặc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trưng</a:t>
            </a:r>
            <a:r>
              <a:rPr sz="1200" b="1" dirty="0">
                <a:solidFill>
                  <a:srgbClr val="0F172A"/>
                </a:solidFill>
              </a:rPr>
              <a:t> HOG: </a:t>
            </a:r>
            <a:r>
              <a:rPr sz="1200" dirty="0" err="1">
                <a:solidFill>
                  <a:srgbClr val="334155"/>
                </a:solidFill>
              </a:rPr>
              <a:t>Kích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thước</a:t>
            </a:r>
            <a:r>
              <a:rPr sz="1200" dirty="0">
                <a:solidFill>
                  <a:srgbClr val="334155"/>
                </a:solidFill>
              </a:rPr>
              <a:t> ô cell 8x8; </a:t>
            </a:r>
            <a:r>
              <a:rPr sz="1200" dirty="0" err="1">
                <a:solidFill>
                  <a:srgbClr val="334155"/>
                </a:solidFill>
              </a:rPr>
              <a:t>khối</a:t>
            </a:r>
            <a:r>
              <a:rPr sz="1200" dirty="0">
                <a:solidFill>
                  <a:srgbClr val="334155"/>
                </a:solidFill>
              </a:rPr>
              <a:t> block 16x16; </a:t>
            </a:r>
            <a:r>
              <a:rPr sz="1200" dirty="0" err="1">
                <a:solidFill>
                  <a:srgbClr val="334155"/>
                </a:solidFill>
              </a:rPr>
              <a:t>bước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trượt</a:t>
            </a:r>
            <a:r>
              <a:rPr sz="1200" dirty="0">
                <a:solidFill>
                  <a:srgbClr val="334155"/>
                </a:solidFill>
              </a:rPr>
              <a:t> 8x8; 9 bins </a:t>
            </a:r>
            <a:r>
              <a:rPr sz="1200" dirty="0" err="1">
                <a:solidFill>
                  <a:srgbClr val="334155"/>
                </a:solidFill>
              </a:rPr>
              <a:t>hướng</a:t>
            </a:r>
            <a:r>
              <a:rPr sz="1200" dirty="0">
                <a:solidFill>
                  <a:srgbClr val="334155"/>
                </a:solidFill>
              </a:rPr>
              <a:t> gradient:</a:t>
            </a:r>
          </a:p>
        </p:txBody>
      </p:sp>
      <p:pic>
        <p:nvPicPr>
          <p:cNvPr id="6" name="Picture 5" descr="eq_2_2_hog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846320"/>
            <a:ext cx="475488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39496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Vector đặc trưng đạt đúng 540 chiều, mô tả cấu trúc biên cạnh độc lập với cường độ tuyệt đối của điểm ảnh.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15081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Hình</a:t>
            </a:r>
            <a:r>
              <a:rPr dirty="0"/>
              <a:t> 3.2: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endParaRPr dirty="0"/>
          </a:p>
        </p:txBody>
      </p:sp>
      <p:pic>
        <p:nvPicPr>
          <p:cNvPr id="10" name="Picture 9" descr="chuan_hoa_ky_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68880"/>
            <a:ext cx="475488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976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Calibri"/>
              </a:defRPr>
            </a:pPr>
            <a:r>
              <a:t>Giải thích minh họa:</a:t>
            </a:r>
            <a:br/>
            <a:r>
              <a:t>• Hàng trên: Ký tự thô sau phân đoạn (kích thước khác nhau, nền xám, có nét bị nghiêng do góc chụp).</a:t>
            </a:r>
            <a:br/>
            <a:r>
              <a:t>• Hàng dưới: Ký tự sau khi thống nhất cực tính, nắn thẳng nét (deskew) và đặt căn giữa khung chuẩn 32 x 48 pixel.</a:t>
            </a:r>
            <a:br/>
            <a:r>
              <a:t>Nguồn: Báo cáo đồ án, tr. 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: Support Vector Machine (SVM RBF)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667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SVM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1.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biên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 (Soft-Margin)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phạt</a:t>
            </a:r>
            <a:r>
              <a:rPr dirty="0"/>
              <a:t> C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bù</a:t>
            </a:r>
            <a:r>
              <a:rPr dirty="0"/>
              <a:t> </a:t>
            </a:r>
            <a:r>
              <a:rPr dirty="0" err="1"/>
              <a:t>phạt</a:t>
            </a:r>
            <a:r>
              <a:rPr dirty="0"/>
              <a:t> xi:</a:t>
            </a:r>
          </a:p>
        </p:txBody>
      </p:sp>
      <p:pic>
        <p:nvPicPr>
          <p:cNvPr id="6" name="Picture 5" descr="eq_2_9_2_10_svm_soft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06040"/>
            <a:ext cx="4663440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42900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2. Hàm nhân phi tuyến RBF (Radial Basis Function):</a:t>
            </a:r>
          </a:p>
        </p:txBody>
      </p:sp>
      <p:pic>
        <p:nvPicPr>
          <p:cNvPr id="8" name="Picture 7" descr="eq_2_11_kernel_r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977639"/>
            <a:ext cx="4206240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3. Chiến lược phân loại đa lớp:</a:t>
            </a:r>
            <a:br/>
            <a:r>
              <a:t>Sử dụng cơ chế One-vs-One (từng cặp), kết hợp hiệu chỉnh xác suất Platt scaling nội bộ để cung cấp xác suất hậu nghiệm P(c | x) cho từng ký tự.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1C5FE90-6156-42F7-B65E-D56361E47167}"/>
              </a:ext>
            </a:extLst>
          </p:cNvPr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10054-C91E-4614-A38B-8E564E6AE5F4}"/>
              </a:ext>
            </a:extLst>
          </p:cNvPr>
          <p:cNvSpPr txBox="1"/>
          <p:nvPr/>
        </p:nvSpPr>
        <p:spPr>
          <a:xfrm>
            <a:off x="6400800" y="1645920"/>
            <a:ext cx="484632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&amp;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endParaRPr dirty="0"/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(</a:t>
            </a:r>
            <a:r>
              <a:rPr dirty="0" err="1"/>
              <a:t>StandardScaler</a:t>
            </a:r>
            <a:r>
              <a:rPr dirty="0"/>
              <a:t>):</a:t>
            </a:r>
          </a:p>
        </p:txBody>
      </p:sp>
      <p:pic>
        <p:nvPicPr>
          <p:cNvPr id="15" name="Picture 14" descr="eq_2_3_standard_scaler.png">
            <a:extLst>
              <a:ext uri="{FF2B5EF4-FFF2-40B4-BE49-F238E27FC236}">
                <a16:creationId xmlns:a16="http://schemas.microsoft.com/office/drawing/2014/main" id="{2984D4CD-7967-499A-9BAE-055FF661A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240280"/>
            <a:ext cx="3931920" cy="457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E989C7-BB03-4C73-938C-5DDDC03AAF82}"/>
              </a:ext>
            </a:extLst>
          </p:cNvPr>
          <p:cNvSpPr txBox="1"/>
          <p:nvPr/>
        </p:nvSpPr>
        <p:spPr>
          <a:xfrm>
            <a:off x="6400800" y="2788920"/>
            <a:ext cx="48463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i="1">
                <a:solidFill>
                  <a:srgbClr val="64748B"/>
                </a:solidFill>
              </a:defRPr>
            </a:pPr>
            <a:r>
              <a:rPr dirty="0" err="1"/>
              <a:t>Ước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vector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bình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r>
              <a:rPr dirty="0"/>
              <a:t> (Train),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quán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Validation, Test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Cấu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hình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siêu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tham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số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Tham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phạt</a:t>
            </a:r>
            <a:r>
              <a:rPr sz="1200" dirty="0">
                <a:solidFill>
                  <a:srgbClr val="334155"/>
                </a:solidFill>
              </a:rPr>
              <a:t> vi </a:t>
            </a:r>
            <a:r>
              <a:rPr sz="1200" dirty="0" err="1">
                <a:solidFill>
                  <a:srgbClr val="334155"/>
                </a:solidFill>
              </a:rPr>
              <a:t>phạm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biên</a:t>
            </a:r>
            <a:r>
              <a:rPr sz="1200" dirty="0">
                <a:solidFill>
                  <a:srgbClr val="334155"/>
                </a:solidFill>
              </a:rPr>
              <a:t> C = 3.0; </a:t>
            </a:r>
            <a:r>
              <a:rPr sz="1200" dirty="0" err="1">
                <a:solidFill>
                  <a:srgbClr val="334155"/>
                </a:solidFill>
              </a:rPr>
              <a:t>hàm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nhân</a:t>
            </a:r>
            <a:r>
              <a:rPr sz="1200" dirty="0">
                <a:solidFill>
                  <a:srgbClr val="334155"/>
                </a:solidFill>
              </a:rPr>
              <a:t> RBF (gamma='scale'); </a:t>
            </a:r>
            <a:r>
              <a:rPr sz="1200" dirty="0" err="1">
                <a:solidFill>
                  <a:srgbClr val="334155"/>
                </a:solidFill>
              </a:rPr>
              <a:t>trọng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cân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bằng</a:t>
            </a:r>
            <a:r>
              <a:rPr sz="1200" dirty="0">
                <a:solidFill>
                  <a:srgbClr val="334155"/>
                </a:solidFill>
              </a:rPr>
              <a:t> (</a:t>
            </a:r>
            <a:r>
              <a:rPr sz="1200" dirty="0" err="1">
                <a:solidFill>
                  <a:srgbClr val="334155"/>
                </a:solidFill>
              </a:rPr>
              <a:t>class_weight</a:t>
            </a:r>
            <a:r>
              <a:rPr sz="1200" dirty="0">
                <a:solidFill>
                  <a:srgbClr val="334155"/>
                </a:solidFill>
              </a:rPr>
              <a:t>='balanced') </a:t>
            </a:r>
            <a:r>
              <a:rPr sz="1200" dirty="0" err="1">
                <a:solidFill>
                  <a:srgbClr val="334155"/>
                </a:solidFill>
              </a:rPr>
              <a:t>nhằm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phạt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nặng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lỗi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lớp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ít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mẫu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Ưu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điểm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nổi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bật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Khả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năng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phân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tách</a:t>
            </a:r>
            <a:r>
              <a:rPr sz="1200" dirty="0">
                <a:solidFill>
                  <a:srgbClr val="334155"/>
                </a:solidFill>
              </a:rPr>
              <a:t> phi </a:t>
            </a:r>
            <a:r>
              <a:rPr sz="1200" dirty="0" err="1">
                <a:solidFill>
                  <a:srgbClr val="334155"/>
                </a:solidFill>
              </a:rPr>
              <a:t>tuyến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cực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mạnh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gian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đặc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trưng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cạnh</a:t>
            </a:r>
            <a:r>
              <a:rPr sz="1200" dirty="0">
                <a:solidFill>
                  <a:srgbClr val="334155"/>
                </a:solidFill>
              </a:rPr>
              <a:t> HOG 540 </a:t>
            </a:r>
            <a:r>
              <a:rPr sz="1200" dirty="0" err="1">
                <a:solidFill>
                  <a:srgbClr val="334155"/>
                </a:solidFill>
              </a:rPr>
              <a:t>chiều</a:t>
            </a:r>
            <a:r>
              <a:rPr sz="1200" dirty="0">
                <a:solidFill>
                  <a:srgbClr val="334155"/>
                </a:solidFill>
              </a:rPr>
              <a:t>;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thực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nghiệm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cao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và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rất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ổn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định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liệu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ảnh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thực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tế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</a:t>
            </a:r>
            <a:r>
              <a:rPr sz="1200" b="1" dirty="0" err="1">
                <a:solidFill>
                  <a:srgbClr val="0F172A"/>
                </a:solidFill>
              </a:rPr>
              <a:t>Hạn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chế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kỹ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thuật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>
                <a:solidFill>
                  <a:srgbClr val="334155"/>
                </a:solidFill>
              </a:rPr>
              <a:t>Chi </a:t>
            </a:r>
            <a:r>
              <a:rPr sz="1200" dirty="0" err="1">
                <a:solidFill>
                  <a:srgbClr val="334155"/>
                </a:solidFill>
              </a:rPr>
              <a:t>phí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toán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tăng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tỷ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lệ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thuận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với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lượng</a:t>
            </a:r>
            <a:r>
              <a:rPr sz="1200" dirty="0">
                <a:solidFill>
                  <a:srgbClr val="334155"/>
                </a:solidFill>
              </a:rPr>
              <a:t> vector </a:t>
            </a:r>
            <a:r>
              <a:rPr sz="1200" dirty="0" err="1">
                <a:solidFill>
                  <a:srgbClr val="334155"/>
                </a:solidFill>
              </a:rPr>
              <a:t>hỗ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trợ</a:t>
            </a:r>
            <a:r>
              <a:rPr sz="1200" dirty="0">
                <a:solidFill>
                  <a:srgbClr val="334155"/>
                </a:solidFill>
              </a:rPr>
              <a:t> (Support Vectors)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gian</a:t>
            </a:r>
            <a:r>
              <a:rPr sz="1200" dirty="0">
                <a:solidFill>
                  <a:srgbClr val="334155"/>
                </a:solidFill>
              </a:rPr>
              <a:t> 540 </a:t>
            </a:r>
            <a:r>
              <a:rPr sz="1200" dirty="0" err="1">
                <a:solidFill>
                  <a:srgbClr val="334155"/>
                </a:solidFill>
              </a:rPr>
              <a:t>chiều</a:t>
            </a:r>
            <a:r>
              <a:rPr sz="1200" dirty="0">
                <a:solidFill>
                  <a:srgbClr val="334155"/>
                </a:solidFill>
              </a:rPr>
              <a:t>; </a:t>
            </a:r>
            <a:r>
              <a:rPr sz="1200" dirty="0" err="1">
                <a:solidFill>
                  <a:srgbClr val="334155"/>
                </a:solidFill>
              </a:rPr>
              <a:t>hoạt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lập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từng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, 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khai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được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ràng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buộc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ngữ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pháp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chuỗi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biển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Môn</a:t>
            </a:r>
            <a:r>
              <a:rPr dirty="0"/>
              <a:t>: PCA (48D) + FLD (34D)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0110" y="1429407"/>
            <a:ext cx="5323490" cy="497139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(PCA)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• 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hiệp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tâm</a:t>
            </a:r>
            <a:r>
              <a:rPr dirty="0"/>
              <a:t>:</a:t>
            </a:r>
          </a:p>
        </p:txBody>
      </p:sp>
      <p:pic>
        <p:nvPicPr>
          <p:cNvPr id="6" name="Picture 5" descr="eq_2_4_pca_c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31720"/>
            <a:ext cx="41148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880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Tỷ lệ phương sai giữ lại với 48 thành phần chính (đạt 80,44%):</a:t>
            </a:r>
          </a:p>
        </p:txBody>
      </p:sp>
      <p:pic>
        <p:nvPicPr>
          <p:cNvPr id="8" name="Picture 7" descr="eq_2_5_pca_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83280"/>
            <a:ext cx="393192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0690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Vai trò cốt lõi trong toàn hệ thống:</a:t>
            </a:r>
            <a:br/>
            <a:r>
              <a:t>Khử hiện tượng đa cộng tuyến giữa các ô HOG lân cận; giảm số chiều từ 540 xuống 48, giúp ma trận phân tán nội lớp S_W ở bước FLD tiếp theo không bị suy biến.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5010" y="1429407"/>
            <a:ext cx="5405165" cy="497139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Fisher (FLD / LDA)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• 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tán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S_W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S_B:</a:t>
            </a:r>
          </a:p>
        </p:txBody>
      </p:sp>
      <p:pic>
        <p:nvPicPr>
          <p:cNvPr id="12" name="Picture 11" descr="eq_2_6_2_7_sw_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331720"/>
            <a:ext cx="46634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3429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Tiêu chuẩn tối ưu Fisher (tỷ số Rayleigh) và giảm chiều:</a:t>
            </a:r>
          </a:p>
        </p:txBody>
      </p:sp>
      <p:pic>
        <p:nvPicPr>
          <p:cNvPr id="14" name="Picture 13" descr="eq_2_8_fisher_j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931920"/>
            <a:ext cx="4114800" cy="512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57200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Hiệu quả nén: Nén từ 540 chiều xuống đúng 34 chiều (C - 1 = 34), giảm 15,8 lần kích thước dữ liệu.</a:t>
            </a:r>
            <a:br/>
            <a:r>
              <a:t>• Bộ giải thuật toán: Phân rã giá trị suy rộng (SVD solver) giúp tránh nghịch đảo ma trận tường minh, tối đa hóa tính ổn định số học.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Xạ</a:t>
            </a:r>
            <a:r>
              <a:rPr dirty="0"/>
              <a:t> Gaussian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Gian Fisher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xạ</a:t>
            </a:r>
            <a:endParaRPr dirty="0"/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1. </a:t>
            </a:r>
            <a:r>
              <a:rPr dirty="0" err="1"/>
              <a:t>Mật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 Gaussian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chiều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Fisher 34D:</a:t>
            </a:r>
          </a:p>
        </p:txBody>
      </p:sp>
      <p:pic>
        <p:nvPicPr>
          <p:cNvPr id="6" name="Picture 5" descr="eq_2_12_gaussian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77440"/>
            <a:ext cx="457200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971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2. Hiệp phương sai nội lớp gộp &amp; Điều chuẩn (Regularization):</a:t>
            </a:r>
          </a:p>
        </p:txBody>
      </p:sp>
      <p:pic>
        <p:nvPicPr>
          <p:cNvPr id="8" name="Picture 7" descr="eq_2_13_2_14_sigma_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74720"/>
            <a:ext cx="4572000" cy="950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526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3. Chuẩn hóa xác suất phát xạ Softmax theo từng quan sát:</a:t>
            </a:r>
          </a:p>
        </p:txBody>
      </p:sp>
      <p:pic>
        <p:nvPicPr>
          <p:cNvPr id="10" name="Picture 9" descr="eq_2_15_softmax_q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29200"/>
            <a:ext cx="4023360" cy="411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846320" cy="32573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&amp; Ý </a:t>
            </a:r>
            <a:r>
              <a:rPr dirty="0" err="1"/>
              <a:t>nghĩa</a:t>
            </a:r>
            <a:r>
              <a:rPr dirty="0"/>
              <a:t> khoa </a:t>
            </a:r>
            <a:r>
              <a:rPr dirty="0" err="1"/>
              <a:t>học</a:t>
            </a:r>
            <a:endParaRPr dirty="0"/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Phương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án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thuần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lý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thuyết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môn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học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Hoàn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toàn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không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sử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dụng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hình</a:t>
            </a:r>
            <a:r>
              <a:rPr sz="1300" dirty="0">
                <a:solidFill>
                  <a:srgbClr val="334155"/>
                </a:solidFill>
              </a:rPr>
              <a:t> SVM </a:t>
            </a:r>
            <a:r>
              <a:rPr sz="1300" dirty="0" err="1">
                <a:solidFill>
                  <a:srgbClr val="334155"/>
                </a:solidFill>
              </a:rPr>
              <a:t>trong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khâu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nhận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ký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OCR. </a:t>
            </a:r>
            <a:r>
              <a:rPr sz="1300" dirty="0" err="1">
                <a:solidFill>
                  <a:srgbClr val="334155"/>
                </a:solidFill>
              </a:rPr>
              <a:t>Độc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lập</a:t>
            </a:r>
            <a:r>
              <a:rPr sz="1300" dirty="0">
                <a:solidFill>
                  <a:srgbClr val="334155"/>
                </a:solidFill>
              </a:rPr>
              <a:t> 100% </a:t>
            </a:r>
            <a:r>
              <a:rPr sz="1300" dirty="0" err="1">
                <a:solidFill>
                  <a:srgbClr val="334155"/>
                </a:solidFill>
              </a:rPr>
              <a:t>với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thư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viện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học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máy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ngoài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trình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Chuẩn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hóa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xác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suất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phát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xạ</a:t>
            </a:r>
            <a:r>
              <a:rPr sz="1300" b="1" dirty="0">
                <a:solidFill>
                  <a:srgbClr val="0F172A"/>
                </a:solidFill>
              </a:rPr>
              <a:t> (</a:t>
            </a:r>
            <a:r>
              <a:rPr sz="1300" b="1" dirty="0" err="1">
                <a:solidFill>
                  <a:srgbClr val="0F172A"/>
                </a:solidFill>
              </a:rPr>
              <a:t>Softmax</a:t>
            </a:r>
            <a:r>
              <a:rPr sz="1300" b="1" dirty="0">
                <a:solidFill>
                  <a:srgbClr val="0F172A"/>
                </a:solidFill>
              </a:rPr>
              <a:t>): </a:t>
            </a:r>
            <a:r>
              <a:rPr sz="1300" dirty="0">
                <a:solidFill>
                  <a:srgbClr val="334155"/>
                </a:solidFill>
              </a:rPr>
              <a:t>Log-likelihood </a:t>
            </a:r>
            <a:r>
              <a:rPr sz="1300" dirty="0" err="1">
                <a:solidFill>
                  <a:srgbClr val="334155"/>
                </a:solidFill>
              </a:rPr>
              <a:t>của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lớp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được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chuyển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đổi</a:t>
            </a:r>
            <a:r>
              <a:rPr sz="1300" dirty="0">
                <a:solidFill>
                  <a:srgbClr val="334155"/>
                </a:solidFill>
              </a:rPr>
              <a:t> qua </a:t>
            </a:r>
            <a:r>
              <a:rPr sz="1300" dirty="0" err="1">
                <a:solidFill>
                  <a:srgbClr val="334155"/>
                </a:solidFill>
              </a:rPr>
              <a:t>hàm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Softmax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theo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từng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quan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sát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đóng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vai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trò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suất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xạ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thực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cho</a:t>
            </a:r>
            <a:r>
              <a:rPr sz="1300" dirty="0">
                <a:solidFill>
                  <a:srgbClr val="334155"/>
                </a:solidFill>
              </a:rPr>
              <a:t> HMM.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Tốc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độ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tính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toán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siêu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việt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Nhờ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sử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dụng</a:t>
            </a:r>
            <a:r>
              <a:rPr sz="1300" dirty="0">
                <a:solidFill>
                  <a:srgbClr val="334155"/>
                </a:solidFill>
              </a:rPr>
              <a:t> ma </a:t>
            </a:r>
            <a:r>
              <a:rPr sz="1300" dirty="0" err="1">
                <a:solidFill>
                  <a:srgbClr val="334155"/>
                </a:solidFill>
              </a:rPr>
              <a:t>trận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hiệp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phương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sai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gộp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được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rã</a:t>
            </a:r>
            <a:r>
              <a:rPr sz="1300" dirty="0">
                <a:solidFill>
                  <a:srgbClr val="334155"/>
                </a:solidFill>
              </a:rPr>
              <a:t> Cholesky </a:t>
            </a:r>
            <a:r>
              <a:rPr sz="1300" dirty="0" err="1">
                <a:solidFill>
                  <a:srgbClr val="334155"/>
                </a:solidFill>
              </a:rPr>
              <a:t>sẵn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từ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trước</a:t>
            </a:r>
            <a:r>
              <a:rPr sz="1300" dirty="0">
                <a:solidFill>
                  <a:srgbClr val="334155"/>
                </a:solidFill>
              </a:rPr>
              <a:t>, </a:t>
            </a:r>
            <a:r>
              <a:rPr sz="1300" dirty="0" err="1">
                <a:solidFill>
                  <a:srgbClr val="334155"/>
                </a:solidFill>
              </a:rPr>
              <a:t>thời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gian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loại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một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lô</a:t>
            </a:r>
            <a:r>
              <a:rPr sz="1300" dirty="0">
                <a:solidFill>
                  <a:srgbClr val="334155"/>
                </a:solidFill>
              </a:rPr>
              <a:t> 434 </a:t>
            </a:r>
            <a:r>
              <a:rPr sz="1300" dirty="0" err="1">
                <a:solidFill>
                  <a:srgbClr val="334155"/>
                </a:solidFill>
              </a:rPr>
              <a:t>ký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tự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giảm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từ</a:t>
            </a:r>
            <a:r>
              <a:rPr sz="1300" dirty="0">
                <a:solidFill>
                  <a:srgbClr val="334155"/>
                </a:solidFill>
              </a:rPr>
              <a:t> 181,39 </a:t>
            </a:r>
            <a:r>
              <a:rPr sz="1300" dirty="0" err="1">
                <a:solidFill>
                  <a:srgbClr val="334155"/>
                </a:solidFill>
              </a:rPr>
              <a:t>ms</a:t>
            </a:r>
            <a:r>
              <a:rPr sz="1300" dirty="0">
                <a:solidFill>
                  <a:srgbClr val="334155"/>
                </a:solidFill>
              </a:rPr>
              <a:t> (ở SVM) </a:t>
            </a:r>
            <a:r>
              <a:rPr sz="1300" dirty="0" err="1">
                <a:solidFill>
                  <a:srgbClr val="334155"/>
                </a:solidFill>
              </a:rPr>
              <a:t>xuống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chỉ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còn</a:t>
            </a:r>
            <a:r>
              <a:rPr sz="1300" dirty="0">
                <a:solidFill>
                  <a:srgbClr val="334155"/>
                </a:solidFill>
              </a:rPr>
              <a:t> 0,94 </a:t>
            </a:r>
            <a:r>
              <a:rPr sz="1300" dirty="0" err="1">
                <a:solidFill>
                  <a:srgbClr val="334155"/>
                </a:solidFill>
              </a:rPr>
              <a:t>ms</a:t>
            </a:r>
            <a:r>
              <a:rPr sz="1300" dirty="0">
                <a:solidFill>
                  <a:srgbClr val="334155"/>
                </a:solidFill>
              </a:rPr>
              <a:t> (</a:t>
            </a:r>
            <a:r>
              <a:rPr sz="1300" dirty="0" err="1">
                <a:solidFill>
                  <a:srgbClr val="334155"/>
                </a:solidFill>
              </a:rPr>
              <a:t>nhanh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tới</a:t>
            </a:r>
            <a:r>
              <a:rPr sz="1300" dirty="0">
                <a:solidFill>
                  <a:srgbClr val="334155"/>
                </a:solidFill>
              </a:rPr>
              <a:t> 193 </a:t>
            </a:r>
            <a:r>
              <a:rPr sz="1300" dirty="0" err="1">
                <a:solidFill>
                  <a:srgbClr val="334155"/>
                </a:solidFill>
              </a:rPr>
              <a:t>lần</a:t>
            </a:r>
            <a:r>
              <a:rPr sz="1300" dirty="0">
                <a:solidFill>
                  <a:srgbClr val="334155"/>
                </a:solidFill>
              </a:rPr>
              <a:t>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Giả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định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giới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hạn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 err="1">
                <a:solidFill>
                  <a:srgbClr val="334155"/>
                </a:solidFill>
              </a:rPr>
              <a:t>Mô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hình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gán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một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phân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bố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đơn</a:t>
            </a:r>
            <a:r>
              <a:rPr sz="1300" dirty="0">
                <a:solidFill>
                  <a:srgbClr val="334155"/>
                </a:solidFill>
              </a:rPr>
              <a:t> Gaussian </a:t>
            </a:r>
            <a:r>
              <a:rPr sz="1300" dirty="0" err="1">
                <a:solidFill>
                  <a:srgbClr val="334155"/>
                </a:solidFill>
              </a:rPr>
              <a:t>cho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mỗi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lớp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có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thể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chưa</a:t>
            </a:r>
            <a:r>
              <a:rPr sz="1300" dirty="0">
                <a:solidFill>
                  <a:srgbClr val="334155"/>
                </a:solidFill>
              </a:rPr>
              <a:t> bao </a:t>
            </a:r>
            <a:r>
              <a:rPr sz="1300" dirty="0" err="1">
                <a:solidFill>
                  <a:srgbClr val="334155"/>
                </a:solidFill>
              </a:rPr>
              <a:t>quát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hết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mọi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biến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thể</a:t>
            </a:r>
            <a:r>
              <a:rPr sz="1300" dirty="0">
                <a:solidFill>
                  <a:srgbClr val="334155"/>
                </a:solidFill>
              </a:rPr>
              <a:t> font </a:t>
            </a:r>
            <a:r>
              <a:rPr sz="1300" dirty="0" err="1">
                <a:solidFill>
                  <a:srgbClr val="334155"/>
                </a:solidFill>
              </a:rPr>
              <a:t>chữ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và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độ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dày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nét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khác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nhau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trong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thực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tế</a:t>
            </a:r>
            <a:r>
              <a:rPr sz="1300" dirty="0">
                <a:solidFill>
                  <a:srgbClr val="33415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Markov </a:t>
            </a:r>
            <a:r>
              <a:rPr lang="en-US" dirty="0" err="1"/>
              <a:t>Ẩn</a:t>
            </a:r>
            <a:r>
              <a:rPr lang="en-US" dirty="0"/>
              <a:t> (HMM) &amp;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Viterbi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chuỗi</a:t>
            </a:r>
            <a:r>
              <a:rPr dirty="0"/>
              <a:t> HMM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bigram (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mịn</a:t>
            </a:r>
            <a:r>
              <a:rPr dirty="0"/>
              <a:t> Laplace alpha = 1):</a:t>
            </a:r>
          </a:p>
        </p:txBody>
      </p:sp>
      <p:pic>
        <p:nvPicPr>
          <p:cNvPr id="6" name="Picture 5" descr="eq_2_16_hmm_ai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31720"/>
            <a:ext cx="4114800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9260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</a:rPr>
              <a:t>• Không gian trạng thái ẩn S: </a:t>
            </a:r>
            <a:r>
              <a:rPr sz="1200">
                <a:solidFill>
                  <a:srgbClr val="334155"/>
                </a:solidFill>
              </a:rPr>
              <a:t>Gồm 35 ký tự chuẩn đại diện cho bản chất thật của ký tự tại vị trí 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</a:rPr>
              <a:t>• Tập huấn luyện chuyển tiếp: </a:t>
            </a:r>
            <a:r>
              <a:rPr sz="1200">
                <a:solidFill>
                  <a:srgbClr val="334155"/>
                </a:solidFill>
              </a:rPr>
              <a:t>Ước lượng trên 930 chuỗi biển số train duy nhất không trùng lặp danh tính.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</a:rPr>
              <a:t>• Mẫu cấu trúc vị trí (Thông tư 24/2023/TT-BCA): </a:t>
            </a:r>
            <a:r>
              <a:rPr sz="1200">
                <a:solidFill>
                  <a:srgbClr val="334155"/>
                </a:solidFill>
              </a:rPr>
              <a:t>
- Vị trí 0, 1: Bắt buộc là chữ số (Mã địa phương).
- Vị trí 2: Bắt buộc là chữ cái (Ký hiệu sê-ri đăng ký).
- Vị trí đuôi: Dãy số thứ tự đăng ký (chữ số).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hoạch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Viterbi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đệ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miền</a:t>
            </a:r>
            <a:r>
              <a:rPr dirty="0"/>
              <a:t> Log:</a:t>
            </a:r>
          </a:p>
        </p:txBody>
      </p:sp>
      <p:pic>
        <p:nvPicPr>
          <p:cNvPr id="10" name="Picture 9" descr="eq_2_17_2_18_viter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31720"/>
            <a:ext cx="466344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10896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Mục tiêu giải mã: </a:t>
            </a:r>
            <a:r>
              <a:rPr sz="1200">
                <a:solidFill>
                  <a:srgbClr val="334155"/>
                </a:solidFill>
              </a:rPr>
              <a:t>Tìm chuỗi trạng thái tối ưu toàn cục s* cực đại hóa xác suất kết hợp giữa bằng chứng thị giác và ngữ pháp chuyển trạng thái.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Truy vết ngược (Backtracking): </a:t>
            </a:r>
            <a:r>
              <a:rPr sz="1200">
                <a:solidFill>
                  <a:srgbClr val="334155"/>
                </a:solidFill>
              </a:rPr>
              <a:t>Lưu vết chỉ số trạng thái trước ở mỗi bước để truy xuất chuỗi ký tự tối ưu.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Cơ chế ngưỡng phạt an toàn (max_log_penalty = 0.35): </a:t>
            </a:r>
            <a:r>
              <a:rPr sz="1200">
                <a:solidFill>
                  <a:srgbClr val="334155"/>
                </a:solidFill>
              </a:rPr>
              <a:t>Chỉ chấp nhận chuỗi HMM nếu mức suy giảm log xác suất trung bình so với chuỗi OCR thô không vượt quá 0.35; tránh sửa sai nội dung rõ nét.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180 </a:t>
            </a:r>
            <a:r>
              <a:rPr dirty="0" err="1"/>
              <a:t>Ảnh</a:t>
            </a:r>
            <a:r>
              <a:rPr dirty="0"/>
              <a:t> Test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322451"/>
              </p:ext>
            </p:extLst>
          </p:nvPr>
        </p:nvGraphicFramePr>
        <p:xfrm>
          <a:off x="914400" y="1645920"/>
          <a:ext cx="103628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Phương án đối sánh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Biển đúng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Exact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CER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Mean (ms)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P95 (ms)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Tốc độ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 SVM cơ sở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74 / 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41,11%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28,76%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175,92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274,55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1,000x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 PCA, FLD, SVM, 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70 / 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38,89%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30,33%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146,09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220,36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1,200x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3. PCA, FLD, Gaussian, HMM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70 / 180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38,89%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34,90%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132,81 ms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204,82 ms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1,325x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so_sanh_ch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512064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Hình 4.2: Độ chính xác chuỗi (Exact/CER) và thời gian toàn hệ thống.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37560"/>
            <a:ext cx="5333695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347472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Phân tích kết quả thống kê có kiểm soát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</a:rPr>
              <a:t>• Khoảng tin cậy Bootstrap 10.000 lần: </a:t>
            </a:r>
            <a:r>
              <a:rPr sz="1200">
                <a:solidFill>
                  <a:srgbClr val="334155"/>
                </a:solidFill>
              </a:rPr>
              <a:t>Chênh lệch tỷ lệ đúng toàn biển giữa SVM và mô hình kết hợp là -2,22 điểm % (CI95%: [-5,56%; +0,56%]). Do khoảng này đi qua 0 và p = 0,2891 (McNemar), chưa đủ cơ sở khẳng định sự khác biệt có ý nghĩa thống kê trong tổng thể.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</a:rPr>
              <a:t>• Tốc độ xử lý: </a:t>
            </a:r>
            <a:r>
              <a:rPr sz="1200">
                <a:solidFill>
                  <a:srgbClr val="334155"/>
                </a:solidFill>
              </a:rPr>
              <a:t>Nhánh Gaussian + HMM giúp toàn hệ thống chạy nhanh gấp 1,325 lần (CI95%: [1,307; 1,343]), tiết kiệm trung bình 43,11 ms trên mỗi ảnh xe.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</a:rPr>
              <a:t>• Phân bố theo loại biển: </a:t>
            </a:r>
            <a:r>
              <a:rPr sz="1200">
                <a:solidFill>
                  <a:srgbClr val="334155"/>
                </a:solidFill>
              </a:rPr>
              <a:t>Biển 1 hàng đạt độ chính xác cao nhất (55% - 60%); biển 2 hàng ô tô đạt 25%; biển 2 hàng xe máy đạt 33% - 38%.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Chẩn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Bóc</a:t>
            </a:r>
            <a:r>
              <a:rPr dirty="0"/>
              <a:t> 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Tực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&amp; </a:t>
            </a:r>
            <a:r>
              <a:rPr dirty="0" err="1"/>
              <a:t>Thí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4 </a:t>
            </a:r>
            <a:r>
              <a:rPr dirty="0" err="1"/>
              <a:t>Nhánh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Bảng</a:t>
            </a:r>
            <a:r>
              <a:rPr dirty="0"/>
              <a:t> 4.4: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434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br>
              <a:rPr dirty="0"/>
            </a:br>
            <a:r>
              <a:rPr dirty="0"/>
              <a:t>(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đoạn</a:t>
            </a:r>
            <a:r>
              <a:rPr dirty="0"/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701173"/>
              </p:ext>
            </p:extLst>
          </p:nvPr>
        </p:nvGraphicFramePr>
        <p:xfrm>
          <a:off x="914400" y="2651760"/>
          <a:ext cx="48463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Mô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hình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Acc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ms / lô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SVM (540D)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91,24%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85,80%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181,39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PCA, FLD,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90,32%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81,25%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52,82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PCA, FLD, 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89,40%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77,99%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0,94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ms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38912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Nhận định quan trọng:</a:t>
            </a:r>
            <a:br/>
            <a:r>
              <a:t>• PCA + FLD giữ lại 90,32% độ chính xác so với 91,24% của SVM 540D gốc, nhưng giảm thời gian phân loại hơn 3,4 lần.</a:t>
            </a:r>
            <a:br/>
            <a:r>
              <a:t>• Mô hình Gaussian trong không gian Fisher đạt tốc độ xử lý nhanh kỷ lục: 0,94 ms cho toàn bộ 434 ký tự (nhanh gấp 193 lần so với SVM).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Bảng</a:t>
            </a:r>
            <a:r>
              <a:rPr dirty="0"/>
              <a:t> 4.5: </a:t>
            </a:r>
            <a:r>
              <a:rPr dirty="0" err="1"/>
              <a:t>Thí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bốn</a:t>
            </a:r>
            <a:r>
              <a:rPr dirty="0"/>
              <a:t> </a:t>
            </a:r>
            <a:r>
              <a:rPr dirty="0" err="1"/>
              <a:t>nhánh</a:t>
            </a:r>
            <a:r>
              <a:rPr dirty="0"/>
              <a:t> 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động</a:t>
            </a:r>
            <a:br>
              <a:rPr dirty="0"/>
            </a:br>
            <a:r>
              <a:rPr dirty="0"/>
              <a:t>(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hưởng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chiều</a:t>
            </a:r>
            <a:r>
              <a:rPr dirty="0"/>
              <a:t> vs HMM)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339843"/>
              </p:ext>
            </p:extLst>
          </p:nvPr>
        </p:nvGraphicFramePr>
        <p:xfrm>
          <a:off x="6400800" y="2651760"/>
          <a:ext cx="48463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Phương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án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Đúng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CER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Mean (ms)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SVM + Decoder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hiện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tại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28,76%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168,45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SVM + 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29,23%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169,31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PCA+FLD+SVM + 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29,78%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139,71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PCA+FLD+SVM + 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30,33%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140,32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ms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5262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Kết luận phân rã tác động:</a:t>
            </a:r>
            <a:br/>
            <a:r>
              <a:t>• Giảm chiều (PCA+FLD): Giúp giảm độ trễ từ 168 ms xuống 139 ms/ảnh mà số biển đúng chỉ giảm 1 biển (74 -&gt; 73).</a:t>
            </a:r>
            <a:br/>
            <a:r>
              <a:t>• Giải mã HMM: Có tác dụng sửa lỗi cú pháp nhưng phụ thuộc vào chất lượng phân đoạn; nếu phân đoạn dính viền, HMM có thể chuyển trạng thái sai.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/>
              <a:t>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&amp;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Nghẽn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Gian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9120" y="1508760"/>
            <a:ext cx="5064936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 </a:t>
            </a:r>
          </a:p>
        </p:txBody>
      </p:sp>
      <p:pic>
        <p:nvPicPr>
          <p:cNvPr id="6" name="Picture 5" descr="nham_lan_current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377440" cy="2377440"/>
          </a:xfrm>
          <a:prstGeom prst="rect">
            <a:avLst/>
          </a:prstGeom>
        </p:spPr>
      </p:pic>
      <p:pic>
        <p:nvPicPr>
          <p:cNvPr id="7" name="Picture 6" descr="nham_lan_pca_fld_h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3172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80060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SVM cơ sở: 38 lỗi / 434 ký tự (nhầm 7-&gt;9, 6-&gt;1, 2-&gt;3).</a:t>
            </a:r>
            <a:br/>
            <a:r>
              <a:t>• Gaussian: 46 lỗi / 434 ký tự (nhầm 1-&gt;7, 1-&gt;T, D-&gt;0 do nét thẳng tương đồng co cụm trong không gian chiếu).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508760"/>
            <a:ext cx="5364176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nghẽn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</a:p>
        </p:txBody>
      </p:sp>
      <p:pic>
        <p:nvPicPr>
          <p:cNvPr id="11" name="Picture 10" descr="thoi_gian_cong_do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31720"/>
            <a:ext cx="484632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20624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Phát hiện nút thắt cổ chai toàn hệ thống:</a:t>
            </a:r>
            <a:br/>
            <a:r>
              <a:t>• Khâu phân loại OCR giảm mạnh từ 47,38 ms (SVM) xuống còn 4,76 ms (Gaussian, giảm 10 lần).</a:t>
            </a:r>
            <a:br/>
            <a:r>
              <a:t>• Tuy nhiên, hai khâu Phát hiện vùng (50,95 ms) và Phân đoạn ký tự (63,39 ms) chiếm tới 86% tổng thời gian thực thi của cả hệ thống.</a:t>
            </a:r>
            <a:br/>
            <a:r>
              <a:t>• Định hướng: Tối ưu tiếp theo cần tập trung vào khâu sinh vùng giả và phân đoạn thay vì chỉ tối ưu bộ phân loại.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Điển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endParaRPr dirty="0"/>
          </a:p>
        </p:txBody>
      </p:sp>
      <p:pic>
        <p:nvPicPr>
          <p:cNvPr id="4" name="Picture 3" descr="vi_du_l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Hình 5.1: Bốn ví dụ đối chiếu kết quả thực tế trên ảnh phương tiện.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0898" y="1508760"/>
            <a:ext cx="546927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4937760" cy="2795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4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điển</a:t>
            </a:r>
            <a:r>
              <a:rPr dirty="0"/>
              <a:t> </a:t>
            </a:r>
            <a:r>
              <a:rPr dirty="0" err="1"/>
              <a:t>hình</a:t>
            </a:r>
            <a:endParaRPr dirty="0"/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Ca 1 - </a:t>
            </a:r>
            <a:r>
              <a:rPr sz="1200" b="1" dirty="0" err="1">
                <a:solidFill>
                  <a:srgbClr val="0F172A"/>
                </a:solidFill>
              </a:rPr>
              <a:t>Lỗi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bắt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nhầm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vùng</a:t>
            </a:r>
            <a:r>
              <a:rPr sz="1200" b="1" dirty="0">
                <a:solidFill>
                  <a:srgbClr val="0F172A"/>
                </a:solidFill>
              </a:rPr>
              <a:t> (36A-430.14): </a:t>
            </a:r>
            <a:r>
              <a:rPr sz="1200" dirty="0" err="1">
                <a:solidFill>
                  <a:srgbClr val="334155"/>
                </a:solidFill>
              </a:rPr>
              <a:t>Cả</a:t>
            </a:r>
            <a:r>
              <a:rPr sz="1200" dirty="0">
                <a:solidFill>
                  <a:srgbClr val="334155"/>
                </a:solidFill>
              </a:rPr>
              <a:t> 2 </a:t>
            </a:r>
            <a:r>
              <a:rPr sz="1200" dirty="0" err="1">
                <a:solidFill>
                  <a:srgbClr val="334155"/>
                </a:solidFill>
              </a:rPr>
              <a:t>phương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đều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bắt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nhầm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vùng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chắn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gió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phía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thay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vì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biển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ở </a:t>
            </a:r>
            <a:r>
              <a:rPr sz="1200" dirty="0" err="1">
                <a:solidFill>
                  <a:srgbClr val="334155"/>
                </a:solidFill>
              </a:rPr>
              <a:t>cản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trước</a:t>
            </a:r>
            <a:r>
              <a:rPr sz="1200" dirty="0">
                <a:solidFill>
                  <a:srgbClr val="334155"/>
                </a:solidFill>
              </a:rPr>
              <a:t>. </a:t>
            </a:r>
            <a:r>
              <a:rPr sz="1200" dirty="0" err="1">
                <a:solidFill>
                  <a:srgbClr val="334155"/>
                </a:solidFill>
              </a:rPr>
              <a:t>Bài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học</a:t>
            </a:r>
            <a:r>
              <a:rPr sz="1200" dirty="0">
                <a:solidFill>
                  <a:srgbClr val="334155"/>
                </a:solidFill>
              </a:rPr>
              <a:t>: Khi detector </a:t>
            </a:r>
            <a:r>
              <a:rPr sz="1200" dirty="0" err="1">
                <a:solidFill>
                  <a:srgbClr val="334155"/>
                </a:solidFill>
              </a:rPr>
              <a:t>chọn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sai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vùng</a:t>
            </a:r>
            <a:r>
              <a:rPr sz="1200" dirty="0">
                <a:solidFill>
                  <a:srgbClr val="334155"/>
                </a:solidFill>
              </a:rPr>
              <a:t>, </a:t>
            </a:r>
            <a:r>
              <a:rPr sz="1200" dirty="0" err="1">
                <a:solidFill>
                  <a:srgbClr val="334155"/>
                </a:solidFill>
              </a:rPr>
              <a:t>nâng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cấp</a:t>
            </a:r>
            <a:r>
              <a:rPr sz="1200" dirty="0">
                <a:solidFill>
                  <a:srgbClr val="334155"/>
                </a:solidFill>
              </a:rPr>
              <a:t> OCR </a:t>
            </a:r>
            <a:r>
              <a:rPr sz="1200" dirty="0" err="1">
                <a:solidFill>
                  <a:srgbClr val="334155"/>
                </a:solidFill>
              </a:rPr>
              <a:t>riêng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lẻ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thể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khắc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phục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được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kết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quả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Ca 2 - </a:t>
            </a:r>
            <a:r>
              <a:rPr sz="1200" b="1" dirty="0" err="1">
                <a:solidFill>
                  <a:srgbClr val="0F172A"/>
                </a:solidFill>
              </a:rPr>
              <a:t>Thừa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ký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tự</a:t>
            </a:r>
            <a:r>
              <a:rPr sz="1200" b="1" dirty="0">
                <a:solidFill>
                  <a:srgbClr val="0F172A"/>
                </a:solidFill>
              </a:rPr>
              <a:t> do </a:t>
            </a:r>
            <a:r>
              <a:rPr sz="1200" b="1" dirty="0" err="1">
                <a:solidFill>
                  <a:srgbClr val="0F172A"/>
                </a:solidFill>
              </a:rPr>
              <a:t>viền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mép</a:t>
            </a:r>
            <a:r>
              <a:rPr sz="1200" b="1" dirty="0">
                <a:solidFill>
                  <a:srgbClr val="0F172A"/>
                </a:solidFill>
              </a:rPr>
              <a:t> (36A-400.43): </a:t>
            </a:r>
            <a:r>
              <a:rPr sz="1200" dirty="0" err="1">
                <a:solidFill>
                  <a:srgbClr val="334155"/>
                </a:solidFill>
              </a:rPr>
              <a:t>Cắt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trúng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vùng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biển</a:t>
            </a:r>
            <a:r>
              <a:rPr sz="1200" dirty="0">
                <a:solidFill>
                  <a:srgbClr val="334155"/>
                </a:solidFill>
              </a:rPr>
              <a:t>, </a:t>
            </a:r>
            <a:r>
              <a:rPr sz="1200" dirty="0" err="1">
                <a:solidFill>
                  <a:srgbClr val="334155"/>
                </a:solidFill>
              </a:rPr>
              <a:t>nhưng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phân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đoạn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vệt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viền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cản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xe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khiến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Gaussian+HMM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sinh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thêm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'2' ở </a:t>
            </a:r>
            <a:r>
              <a:rPr sz="1200" dirty="0" err="1">
                <a:solidFill>
                  <a:srgbClr val="334155"/>
                </a:solidFill>
              </a:rPr>
              <a:t>cuối</a:t>
            </a:r>
            <a:r>
              <a:rPr sz="1200" dirty="0">
                <a:solidFill>
                  <a:srgbClr val="334155"/>
                </a:solidFill>
              </a:rPr>
              <a:t> (</a:t>
            </a:r>
            <a:r>
              <a:rPr sz="1200" dirty="0" err="1">
                <a:solidFill>
                  <a:srgbClr val="334155"/>
                </a:solidFill>
              </a:rPr>
              <a:t>thành</a:t>
            </a:r>
            <a:r>
              <a:rPr sz="1200" dirty="0">
                <a:solidFill>
                  <a:srgbClr val="334155"/>
                </a:solidFill>
              </a:rPr>
              <a:t> 9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thay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vì</a:t>
            </a:r>
            <a:r>
              <a:rPr sz="1200" dirty="0">
                <a:solidFill>
                  <a:srgbClr val="334155"/>
                </a:solidFill>
              </a:rPr>
              <a:t> 8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Ca 3 - </a:t>
            </a:r>
            <a:r>
              <a:rPr sz="1200" b="1" dirty="0" err="1">
                <a:solidFill>
                  <a:srgbClr val="0F172A"/>
                </a:solidFill>
              </a:rPr>
              <a:t>Mất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ký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tự</a:t>
            </a:r>
            <a:r>
              <a:rPr sz="1200" b="1" dirty="0">
                <a:solidFill>
                  <a:srgbClr val="0F172A"/>
                </a:solidFill>
              </a:rPr>
              <a:t> do </a:t>
            </a:r>
            <a:r>
              <a:rPr sz="1200" b="1" dirty="0" err="1">
                <a:solidFill>
                  <a:srgbClr val="0F172A"/>
                </a:solidFill>
              </a:rPr>
              <a:t>góc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nghiêng</a:t>
            </a:r>
            <a:r>
              <a:rPr sz="1200" b="1" dirty="0">
                <a:solidFill>
                  <a:srgbClr val="0F172A"/>
                </a:solidFill>
              </a:rPr>
              <a:t> (89G1-033.16): </a:t>
            </a:r>
            <a:r>
              <a:rPr sz="1200" dirty="0" err="1">
                <a:solidFill>
                  <a:srgbClr val="334155"/>
                </a:solidFill>
              </a:rPr>
              <a:t>Biển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xe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máy</a:t>
            </a:r>
            <a:r>
              <a:rPr sz="1200" dirty="0">
                <a:solidFill>
                  <a:srgbClr val="334155"/>
                </a:solidFill>
              </a:rPr>
              <a:t> 2 </a:t>
            </a:r>
            <a:r>
              <a:rPr sz="1200" dirty="0" err="1">
                <a:solidFill>
                  <a:srgbClr val="334155"/>
                </a:solidFill>
              </a:rPr>
              <a:t>hàng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chụp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góc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xiên</a:t>
            </a:r>
            <a:r>
              <a:rPr sz="1200" dirty="0">
                <a:solidFill>
                  <a:srgbClr val="334155"/>
                </a:solidFill>
              </a:rPr>
              <a:t>, </a:t>
            </a:r>
            <a:r>
              <a:rPr sz="1200" dirty="0" err="1">
                <a:solidFill>
                  <a:srgbClr val="334155"/>
                </a:solidFill>
              </a:rPr>
              <a:t>số</a:t>
            </a:r>
            <a:r>
              <a:rPr sz="1200" dirty="0">
                <a:solidFill>
                  <a:srgbClr val="334155"/>
                </a:solidFill>
              </a:rPr>
              <a:t> '0' </a:t>
            </a:r>
            <a:r>
              <a:rPr sz="1200" dirty="0" err="1">
                <a:solidFill>
                  <a:srgbClr val="334155"/>
                </a:solidFill>
              </a:rPr>
              <a:t>bị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mờ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nét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làm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phân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đoạn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bỏ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sót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. HMM </a:t>
            </a:r>
            <a:r>
              <a:rPr sz="1200" dirty="0" err="1">
                <a:solidFill>
                  <a:srgbClr val="334155"/>
                </a:solidFill>
              </a:rPr>
              <a:t>chỉ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giải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mã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quan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sát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hiện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có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không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sinh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lại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đã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mất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• Ca 4 - HMM </a:t>
            </a:r>
            <a:r>
              <a:rPr sz="1200" b="1" dirty="0" err="1">
                <a:solidFill>
                  <a:srgbClr val="0F172A"/>
                </a:solidFill>
              </a:rPr>
              <a:t>sửa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đúng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thành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công</a:t>
            </a:r>
            <a:r>
              <a:rPr sz="1200" b="1" dirty="0">
                <a:solidFill>
                  <a:srgbClr val="0F172A"/>
                </a:solidFill>
              </a:rPr>
              <a:t> (35-G1 029.93): </a:t>
            </a:r>
            <a:r>
              <a:rPr sz="1200" dirty="0">
                <a:solidFill>
                  <a:srgbClr val="334155"/>
                </a:solidFill>
              </a:rPr>
              <a:t>SVM </a:t>
            </a:r>
            <a:r>
              <a:rPr sz="1200" dirty="0" err="1">
                <a:solidFill>
                  <a:srgbClr val="334155"/>
                </a:solidFill>
              </a:rPr>
              <a:t>thuần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nhận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sai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thành</a:t>
            </a:r>
            <a:r>
              <a:rPr sz="1200" dirty="0">
                <a:solidFill>
                  <a:srgbClr val="334155"/>
                </a:solidFill>
              </a:rPr>
              <a:t> 3G12993, </a:t>
            </a:r>
            <a:r>
              <a:rPr sz="1200" dirty="0" err="1">
                <a:solidFill>
                  <a:srgbClr val="334155"/>
                </a:solidFill>
              </a:rPr>
              <a:t>trong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khi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mô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hình</a:t>
            </a:r>
            <a:r>
              <a:rPr sz="1200" dirty="0">
                <a:solidFill>
                  <a:srgbClr val="334155"/>
                </a:solidFill>
              </a:rPr>
              <a:t> Gaussian + HMM </a:t>
            </a:r>
            <a:r>
              <a:rPr sz="1200" dirty="0" err="1">
                <a:solidFill>
                  <a:srgbClr val="334155"/>
                </a:solidFill>
              </a:rPr>
              <a:t>giải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mã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hoàn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toàn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chuỗi</a:t>
            </a:r>
            <a:r>
              <a:rPr sz="1200" dirty="0">
                <a:solidFill>
                  <a:srgbClr val="334155"/>
                </a:solidFill>
              </a:rPr>
              <a:t> 35G102993.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lang="vi-VN" dirty="0"/>
              <a:t>Minh họa sử dụng mô hình đã thực nghiệm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245009" y="1508760"/>
            <a:ext cx="8076149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15256" y="1712268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nghiệm</a:t>
            </a:r>
            <a:endParaRPr dirty="0"/>
          </a:p>
        </p:txBody>
      </p:sp>
      <p:pic>
        <p:nvPicPr>
          <p:cNvPr id="6" name="Picture 5" descr="minh_hoa_nhan_d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890" y="2377439"/>
            <a:ext cx="7798676" cy="2530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7890" y="5162788"/>
            <a:ext cx="7798676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36C-280.38:</a:t>
            </a:r>
            <a:br>
              <a:rPr dirty="0"/>
            </a:br>
            <a:r>
              <a:rPr dirty="0"/>
              <a:t>• </a:t>
            </a:r>
            <a:r>
              <a:rPr dirty="0" err="1"/>
              <a:t>Nạp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Registry (pipeline/v3).</a:t>
            </a:r>
            <a:br>
              <a:rPr dirty="0"/>
            </a:br>
            <a:r>
              <a:rPr dirty="0"/>
              <a:t>•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xe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 -&gt;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biển</a:t>
            </a:r>
            <a:r>
              <a:rPr dirty="0"/>
              <a:t> -&gt; </a:t>
            </a:r>
            <a:r>
              <a:rPr dirty="0" err="1"/>
              <a:t>Nắn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đưa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chữ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phẳng</a:t>
            </a:r>
            <a:r>
              <a:rPr dirty="0"/>
              <a:t> -&gt;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đoạn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-&gt;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chuỗi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: 36C28038.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/</a:t>
            </a:r>
            <a:r>
              <a:rPr dirty="0" err="1"/>
              <a:t>Nhược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&amp; </a:t>
            </a:r>
            <a:r>
              <a:rPr dirty="0" err="1"/>
              <a:t>Lựa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99091" y="1508760"/>
            <a:ext cx="534451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dirty="0"/>
              <a:t>So </a:t>
            </a:r>
            <a:r>
              <a:rPr dirty="0" err="1"/>
              <a:t>sánh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nhược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&amp; </a:t>
            </a:r>
            <a:r>
              <a:rPr dirty="0" err="1"/>
              <a:t>Lựa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endParaRPr dirty="0"/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1. </a:t>
            </a:r>
            <a:r>
              <a:rPr sz="1200" b="1" dirty="0" err="1">
                <a:solidFill>
                  <a:srgbClr val="0F172A"/>
                </a:solidFill>
              </a:rPr>
              <a:t>Mô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hình</a:t>
            </a:r>
            <a:r>
              <a:rPr sz="1200" b="1" dirty="0">
                <a:solidFill>
                  <a:srgbClr val="0F172A"/>
                </a:solidFill>
              </a:rPr>
              <a:t> SVM </a:t>
            </a:r>
            <a:r>
              <a:rPr sz="1200" b="1" dirty="0" err="1">
                <a:solidFill>
                  <a:srgbClr val="0F172A"/>
                </a:solidFill>
              </a:rPr>
              <a:t>cơ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sở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>
                <a:solidFill>
                  <a:srgbClr val="334155"/>
                </a:solidFill>
              </a:rPr>
              <a:t>
• </a:t>
            </a:r>
            <a:r>
              <a:rPr sz="1200" dirty="0" err="1">
                <a:solidFill>
                  <a:srgbClr val="334155"/>
                </a:solidFill>
              </a:rPr>
              <a:t>Ưu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điểm</a:t>
            </a:r>
            <a:r>
              <a:rPr sz="1200" dirty="0">
                <a:solidFill>
                  <a:srgbClr val="334155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Đạt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toàn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biển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cao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nhất</a:t>
            </a:r>
            <a:r>
              <a:rPr sz="1200" dirty="0">
                <a:solidFill>
                  <a:srgbClr val="334155"/>
                </a:solidFill>
              </a:rPr>
              <a:t> (41,11%) </a:t>
            </a:r>
            <a:r>
              <a:rPr sz="1200" dirty="0" err="1">
                <a:solidFill>
                  <a:srgbClr val="334155"/>
                </a:solidFill>
              </a:rPr>
              <a:t>và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tỷ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lệ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lỗi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tự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thấp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nhất</a:t>
            </a:r>
            <a:r>
              <a:rPr sz="1200" dirty="0">
                <a:solidFill>
                  <a:srgbClr val="334155"/>
                </a:solidFill>
              </a:rPr>
              <a:t> (CER 28,76%).
• </a:t>
            </a:r>
            <a:r>
              <a:rPr sz="1200" dirty="0" err="1">
                <a:solidFill>
                  <a:srgbClr val="334155"/>
                </a:solidFill>
              </a:rPr>
              <a:t>Hạn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chế</a:t>
            </a:r>
            <a:r>
              <a:rPr sz="1200" dirty="0">
                <a:solidFill>
                  <a:srgbClr val="334155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Thời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gian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suy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luận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chậm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hơn</a:t>
            </a:r>
            <a:r>
              <a:rPr sz="1200" dirty="0">
                <a:solidFill>
                  <a:srgbClr val="334155"/>
                </a:solidFill>
              </a:rPr>
              <a:t> (175,92 </a:t>
            </a:r>
            <a:r>
              <a:rPr sz="1200" dirty="0" err="1">
                <a:solidFill>
                  <a:srgbClr val="334155"/>
                </a:solidFill>
              </a:rPr>
              <a:t>ms</a:t>
            </a:r>
            <a:r>
              <a:rPr sz="1200" dirty="0">
                <a:solidFill>
                  <a:srgbClr val="334155"/>
                </a:solidFill>
              </a:rPr>
              <a:t>); </a:t>
            </a:r>
            <a:r>
              <a:rPr sz="1200" dirty="0" err="1">
                <a:solidFill>
                  <a:srgbClr val="334155"/>
                </a:solidFill>
              </a:rPr>
              <a:t>kích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thước</a:t>
            </a:r>
            <a:r>
              <a:rPr sz="1200" dirty="0">
                <a:solidFill>
                  <a:srgbClr val="334155"/>
                </a:solidFill>
              </a:rPr>
              <a:t> vector </a:t>
            </a:r>
            <a:r>
              <a:rPr sz="1200" dirty="0" err="1">
                <a:solidFill>
                  <a:srgbClr val="334155"/>
                </a:solidFill>
              </a:rPr>
              <a:t>lớn</a:t>
            </a:r>
            <a:r>
              <a:rPr sz="1200" dirty="0">
                <a:solidFill>
                  <a:srgbClr val="334155"/>
                </a:solidFill>
              </a:rPr>
              <a:t> (540 </a:t>
            </a:r>
            <a:r>
              <a:rPr sz="1200" dirty="0" err="1">
                <a:solidFill>
                  <a:srgbClr val="334155"/>
                </a:solidFill>
              </a:rPr>
              <a:t>chiều</a:t>
            </a:r>
            <a:r>
              <a:rPr sz="1200" dirty="0">
                <a:solidFill>
                  <a:srgbClr val="334155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2. </a:t>
            </a:r>
            <a:r>
              <a:rPr sz="1200" b="1" dirty="0" err="1">
                <a:solidFill>
                  <a:srgbClr val="0F172A"/>
                </a:solidFill>
              </a:rPr>
              <a:t>Mô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hình</a:t>
            </a:r>
            <a:r>
              <a:rPr sz="1200" b="1" dirty="0">
                <a:solidFill>
                  <a:srgbClr val="0F172A"/>
                </a:solidFill>
              </a:rPr>
              <a:t> PCA + FLD + Gaussian + HMM (</a:t>
            </a:r>
            <a:r>
              <a:rPr sz="1200" b="1" dirty="0" err="1">
                <a:solidFill>
                  <a:srgbClr val="0F172A"/>
                </a:solidFill>
              </a:rPr>
              <a:t>Môn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học</a:t>
            </a:r>
            <a:r>
              <a:rPr sz="1200" b="1" dirty="0">
                <a:solidFill>
                  <a:srgbClr val="0F172A"/>
                </a:solidFill>
              </a:rPr>
              <a:t>): </a:t>
            </a:r>
            <a:r>
              <a:rPr sz="1200" dirty="0">
                <a:solidFill>
                  <a:srgbClr val="334155"/>
                </a:solidFill>
              </a:rPr>
              <a:t>
• </a:t>
            </a:r>
            <a:r>
              <a:rPr sz="1200" dirty="0" err="1">
                <a:solidFill>
                  <a:srgbClr val="334155"/>
                </a:solidFill>
              </a:rPr>
              <a:t>Ưu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điểm</a:t>
            </a:r>
            <a:r>
              <a:rPr sz="1200" dirty="0">
                <a:solidFill>
                  <a:srgbClr val="334155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Tốc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xử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lý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nhanh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nhất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toàn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hệ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thống</a:t>
            </a:r>
            <a:r>
              <a:rPr sz="1200" dirty="0">
                <a:solidFill>
                  <a:srgbClr val="334155"/>
                </a:solidFill>
              </a:rPr>
              <a:t> (132,81 </a:t>
            </a:r>
            <a:r>
              <a:rPr sz="1200" dirty="0" err="1">
                <a:solidFill>
                  <a:srgbClr val="334155"/>
                </a:solidFill>
              </a:rPr>
              <a:t>ms</a:t>
            </a:r>
            <a:r>
              <a:rPr sz="1200" dirty="0">
                <a:solidFill>
                  <a:srgbClr val="334155"/>
                </a:solidFill>
              </a:rPr>
              <a:t>, </a:t>
            </a:r>
            <a:r>
              <a:rPr sz="1200" dirty="0" err="1">
                <a:solidFill>
                  <a:srgbClr val="334155"/>
                </a:solidFill>
              </a:rPr>
              <a:t>nhanh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gấp</a:t>
            </a:r>
            <a:r>
              <a:rPr sz="1200" dirty="0">
                <a:solidFill>
                  <a:srgbClr val="334155"/>
                </a:solidFill>
              </a:rPr>
              <a:t> 1,325 </a:t>
            </a:r>
            <a:r>
              <a:rPr sz="1200" dirty="0" err="1">
                <a:solidFill>
                  <a:srgbClr val="334155"/>
                </a:solidFill>
              </a:rPr>
              <a:t>lần</a:t>
            </a:r>
            <a:r>
              <a:rPr sz="1200" dirty="0">
                <a:solidFill>
                  <a:srgbClr val="334155"/>
                </a:solidFill>
              </a:rPr>
              <a:t>); vector </a:t>
            </a:r>
            <a:r>
              <a:rPr sz="1200" dirty="0" err="1">
                <a:solidFill>
                  <a:srgbClr val="334155"/>
                </a:solidFill>
              </a:rPr>
              <a:t>đặc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trưng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cực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kỳ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nhỏ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gọn</a:t>
            </a:r>
            <a:r>
              <a:rPr sz="1200" dirty="0">
                <a:solidFill>
                  <a:srgbClr val="334155"/>
                </a:solidFill>
              </a:rPr>
              <a:t> (34 </a:t>
            </a:r>
            <a:r>
              <a:rPr sz="1200" dirty="0" err="1">
                <a:solidFill>
                  <a:srgbClr val="334155"/>
                </a:solidFill>
              </a:rPr>
              <a:t>chiều</a:t>
            </a:r>
            <a:r>
              <a:rPr sz="1200" dirty="0">
                <a:solidFill>
                  <a:srgbClr val="334155"/>
                </a:solidFill>
              </a:rPr>
              <a:t> so </a:t>
            </a:r>
            <a:r>
              <a:rPr sz="1200" dirty="0" err="1">
                <a:solidFill>
                  <a:srgbClr val="334155"/>
                </a:solidFill>
              </a:rPr>
              <a:t>với</a:t>
            </a:r>
            <a:r>
              <a:rPr sz="1200" dirty="0">
                <a:solidFill>
                  <a:srgbClr val="334155"/>
                </a:solidFill>
              </a:rPr>
              <a:t> 540 </a:t>
            </a:r>
            <a:r>
              <a:rPr sz="1200" dirty="0" err="1">
                <a:solidFill>
                  <a:srgbClr val="334155"/>
                </a:solidFill>
              </a:rPr>
              <a:t>chiều</a:t>
            </a:r>
            <a:r>
              <a:rPr sz="1200" dirty="0">
                <a:solidFill>
                  <a:srgbClr val="334155"/>
                </a:solidFill>
              </a:rPr>
              <a:t>); </a:t>
            </a:r>
            <a:r>
              <a:rPr sz="1200" dirty="0" err="1">
                <a:solidFill>
                  <a:srgbClr val="334155"/>
                </a:solidFill>
              </a:rPr>
              <a:t>thể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hiện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trọn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vẹn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kiến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thức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toán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học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trong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môn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Nhận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dạng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mẫu</a:t>
            </a:r>
            <a:r>
              <a:rPr sz="1200" dirty="0">
                <a:solidFill>
                  <a:srgbClr val="334155"/>
                </a:solidFill>
              </a:rPr>
              <a:t>.
• </a:t>
            </a:r>
            <a:r>
              <a:rPr sz="1200" dirty="0" err="1">
                <a:solidFill>
                  <a:srgbClr val="334155"/>
                </a:solidFill>
              </a:rPr>
              <a:t>Hạn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chế</a:t>
            </a:r>
            <a:r>
              <a:rPr sz="1200" dirty="0">
                <a:solidFill>
                  <a:srgbClr val="334155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Giả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định</a:t>
            </a:r>
            <a:r>
              <a:rPr sz="1200" dirty="0">
                <a:solidFill>
                  <a:srgbClr val="334155"/>
                </a:solidFill>
              </a:rPr>
              <a:t> Gaussian </a:t>
            </a:r>
            <a:r>
              <a:rPr sz="1200" dirty="0" err="1">
                <a:solidFill>
                  <a:srgbClr val="334155"/>
                </a:solidFill>
              </a:rPr>
              <a:t>đơn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hiệp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phương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sai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gộp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chưa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mô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tả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hết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biến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thiên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phức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tạp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của</a:t>
            </a:r>
            <a:r>
              <a:rPr sz="1200" dirty="0">
                <a:solidFill>
                  <a:srgbClr val="334155"/>
                </a:solidFill>
              </a:rPr>
              <a:t> font </a:t>
            </a:r>
            <a:r>
              <a:rPr sz="1200" dirty="0" err="1">
                <a:solidFill>
                  <a:srgbClr val="334155"/>
                </a:solidFill>
              </a:rPr>
              <a:t>chữ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</a:rPr>
              <a:t>3. </a:t>
            </a:r>
            <a:r>
              <a:rPr sz="1200" b="1" dirty="0" err="1">
                <a:solidFill>
                  <a:srgbClr val="0F172A"/>
                </a:solidFill>
              </a:rPr>
              <a:t>Kết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luận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lựa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chọn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mô</a:t>
            </a:r>
            <a:r>
              <a:rPr sz="1200" b="1" dirty="0">
                <a:solidFill>
                  <a:srgbClr val="0F172A"/>
                </a:solidFill>
              </a:rPr>
              <a:t> </a:t>
            </a:r>
            <a:r>
              <a:rPr sz="1200" b="1" dirty="0" err="1">
                <a:solidFill>
                  <a:srgbClr val="0F172A"/>
                </a:solidFill>
              </a:rPr>
              <a:t>hình</a:t>
            </a:r>
            <a:r>
              <a:rPr sz="1200" b="1" dirty="0">
                <a:solidFill>
                  <a:srgbClr val="0F172A"/>
                </a:solidFill>
              </a:rPr>
              <a:t>: </a:t>
            </a:r>
            <a:r>
              <a:rPr sz="1200" dirty="0">
                <a:solidFill>
                  <a:srgbClr val="334155"/>
                </a:solidFill>
              </a:rPr>
              <a:t>
• </a:t>
            </a:r>
            <a:r>
              <a:rPr sz="1200" dirty="0" err="1">
                <a:solidFill>
                  <a:srgbClr val="334155"/>
                </a:solidFill>
              </a:rPr>
              <a:t>Ưu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tiên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chính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xác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cao</a:t>
            </a:r>
            <a:r>
              <a:rPr sz="1200" dirty="0">
                <a:solidFill>
                  <a:srgbClr val="334155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Lựa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chọn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mô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hình</a:t>
            </a:r>
            <a:r>
              <a:rPr sz="1200" dirty="0">
                <a:solidFill>
                  <a:srgbClr val="334155"/>
                </a:solidFill>
              </a:rPr>
              <a:t> SVM </a:t>
            </a:r>
            <a:r>
              <a:rPr sz="1200" dirty="0" err="1">
                <a:solidFill>
                  <a:srgbClr val="334155"/>
                </a:solidFill>
              </a:rPr>
              <a:t>làm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mặc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định</a:t>
            </a:r>
            <a:r>
              <a:rPr sz="1200" dirty="0">
                <a:solidFill>
                  <a:srgbClr val="334155"/>
                </a:solidFill>
              </a:rPr>
              <a:t>.
• </a:t>
            </a:r>
            <a:r>
              <a:rPr sz="1200" dirty="0" err="1">
                <a:solidFill>
                  <a:srgbClr val="334155"/>
                </a:solidFill>
              </a:rPr>
              <a:t>Ứng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dụng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nhúng</a:t>
            </a:r>
            <a:r>
              <a:rPr sz="1200" dirty="0">
                <a:solidFill>
                  <a:srgbClr val="334155"/>
                </a:solidFill>
              </a:rPr>
              <a:t> / </a:t>
            </a:r>
            <a:r>
              <a:rPr sz="1200" dirty="0" err="1">
                <a:solidFill>
                  <a:srgbClr val="334155"/>
                </a:solidFill>
              </a:rPr>
              <a:t>thời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gian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thực</a:t>
            </a:r>
            <a:r>
              <a:rPr sz="1200" dirty="0">
                <a:solidFill>
                  <a:srgbClr val="334155"/>
                </a:solidFill>
              </a:rPr>
              <a:t>: </a:t>
            </a:r>
            <a:r>
              <a:rPr sz="1200" dirty="0" err="1">
                <a:solidFill>
                  <a:srgbClr val="334155"/>
                </a:solidFill>
              </a:rPr>
              <a:t>Lựa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chọn</a:t>
            </a:r>
            <a:r>
              <a:rPr sz="1200" dirty="0">
                <a:solidFill>
                  <a:srgbClr val="334155"/>
                </a:solidFill>
              </a:rPr>
              <a:t> PCA + FLD + Gaussian + HMM </a:t>
            </a:r>
            <a:r>
              <a:rPr sz="1200" dirty="0" err="1">
                <a:solidFill>
                  <a:srgbClr val="334155"/>
                </a:solidFill>
              </a:rPr>
              <a:t>để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tối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ưu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hóa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tốc</a:t>
            </a:r>
            <a:r>
              <a:rPr sz="1200" dirty="0">
                <a:solidFill>
                  <a:srgbClr val="334155"/>
                </a:solidFill>
              </a:rPr>
              <a:t> </a:t>
            </a:r>
            <a:r>
              <a:rPr sz="1200" dirty="0" err="1">
                <a:solidFill>
                  <a:srgbClr val="334155"/>
                </a:solidFill>
              </a:rPr>
              <a:t>độ</a:t>
            </a:r>
            <a:r>
              <a:rPr sz="120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6030" y="1508760"/>
            <a:ext cx="520157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Hạn chế &amp; Định hướng phát triển tiếp theo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Nâng cấp mô hình phát xạ Gaussian đa thành phần: </a:t>
            </a:r>
            <a:r>
              <a:rPr sz="1200">
                <a:solidFill>
                  <a:srgbClr val="334155"/>
                </a:solidFill>
              </a:rPr>
              <a:t>Phát triển mô hình Gaussian Mixture Models (GMM) với nhiều thành phần hỗn hợp trên từng lớp ký tự để mô tả phong phú hơn các biến thể font chữ.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Bổ sung cơ chế xử lý ký tự thiếu/thừa trong HMM: </a:t>
            </a:r>
            <a:r>
              <a:rPr sz="1200">
                <a:solidFill>
                  <a:srgbClr val="334155"/>
                </a:solidFill>
              </a:rPr>
              <a:t>Tích hợp các trạng thái xóa (deletion) và chèn (insertion) trực tiếp vào đồ thị Viterbi để khắc phục lỗi phân đoạn dính đinh ốc hoặc mất nét chữ.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Tối ưu hóa khâu phát hiện và phân đoạn: </a:t>
            </a:r>
            <a:r>
              <a:rPr sz="1200">
                <a:solidFill>
                  <a:srgbClr val="334155"/>
                </a:solidFill>
              </a:rPr>
              <a:t>Tập trung cải tiến thuật toán sinh vùng giả và phân đoạn ký tự nhằm giải quyết triệt để nút thắt cổ chai chiếm 86% thời gian toàn hệ thống.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• Xây dựng tập kiểm thử độc lập mới: </a:t>
            </a:r>
            <a:r>
              <a:rPr sz="1200">
                <a:solidFill>
                  <a:srgbClr val="334155"/>
                </a:solidFill>
              </a:rPr>
              <a:t>Thu thập thêm ảnh phương tiện thực tế độc lập theo vị trí camera và điều kiện thời tiết khác nhau để kiểm định tính khái quát hóa.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31520" y="1660635"/>
            <a:ext cx="10728655" cy="9948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CẢM ƠN CÔ VÀ MỌI NGƯỜI ĐÃ LẮNG NGHE BÁO CÁO CỦA NHÓM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4224</Words>
  <Application>Microsoft Office PowerPoint</Application>
  <PresentationFormat>Widescreen</PresentationFormat>
  <Paragraphs>230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Trần Mạnh Hùng</cp:lastModifiedBy>
  <cp:revision>17</cp:revision>
  <dcterms:created xsi:type="dcterms:W3CDTF">2013-01-27T09:14:16Z</dcterms:created>
  <dcterms:modified xsi:type="dcterms:W3CDTF">2026-10-26T08:31:31Z</dcterms:modified>
  <cp:category/>
</cp:coreProperties>
</file>